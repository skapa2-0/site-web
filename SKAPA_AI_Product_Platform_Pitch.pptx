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-1828800"/>
            <a:ext cx="6400800" cy="6400800"/>
          </a:xfrm>
          <a:prstGeom prst="ellipse">
            <a:avLst/>
          </a:prstGeom>
          <a:solidFill>
            <a:srgbClr val="EE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spc="300">
                <a:solidFill>
                  <a:srgbClr val="4E56EC"/>
                </a:solidFill>
                <a:latin typeface="Calibri"/>
              </a:rPr>
              <a:t>SKAPA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50">
                <a:solidFill>
                  <a:srgbClr val="606080"/>
                </a:solidFill>
                <a:latin typeface="Calibri Light"/>
              </a:rPr>
              <a:t>AI PRODUCT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300">
                <a:solidFill>
                  <a:srgbClr val="4E56EC"/>
                </a:solidFill>
                <a:latin typeface="Calibri Light"/>
              </a:rPr>
              <a:t>AI PRODUCT PLATFORM · BY SKAPA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109728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800" b="1">
                <a:solidFill>
                  <a:srgbClr val="0D0D1A"/>
                </a:solidFill>
                <a:latin typeface="Calibri"/>
              </a:rPr>
              <a:t>Le cycle produit entier.</a:t>
            </a:r>
          </a:p>
          <a:p>
            <a:pPr algn="l">
              <a:lnSpc>
                <a:spcPct val="105000"/>
              </a:lnSpc>
            </a:pPr>
            <a:r>
              <a:rPr sz="5800" b="1">
                <a:solidFill>
                  <a:srgbClr val="4E56EC"/>
                </a:solidFill>
                <a:latin typeface="Calibri"/>
              </a:rPr>
              <a:t>Dans un seul système.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1206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4E56EC"/>
                </a:solidFill>
                <a:latin typeface="Calibri Light"/>
              </a:rPr>
              <a:t>De la conception au feedback utilisateur — connecté à votre release planning.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53212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606080"/>
                </a:solidFill>
                <a:latin typeface="Calibri Light"/>
              </a:rPr>
              <a:t>Quatre modules opérationnels. Un cycle continu. Une plateforme qui construit,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606080"/>
                </a:solidFill>
                <a:latin typeface="Calibri Light"/>
              </a:rPr>
              <a:t>comprendre, audite et apprend — sans rupture entre les équipes.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06080"/>
                </a:solidFill>
                <a:latin typeface="Calibri Light"/>
              </a:rPr>
              <a:t>Mai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spc="300">
                <a:solidFill>
                  <a:srgbClr val="4E56EC"/>
                </a:solidFill>
                <a:latin typeface="Calibri"/>
              </a:rPr>
              <a:t>SKAPA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50">
                <a:solidFill>
                  <a:srgbClr val="606080"/>
                </a:solidFill>
                <a:latin typeface="Calibri Light"/>
              </a:rPr>
              <a:t>AI PRODUCT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50">
                <a:solidFill>
                  <a:srgbClr val="4E56EC"/>
                </a:solidFill>
                <a:latin typeface="Calibri Light"/>
              </a:rPr>
              <a:t>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D0D1A"/>
                </a:solidFill>
                <a:latin typeface="Calibri"/>
              </a:rPr>
              <a:t>L'AI Product Platform est le premier système</a:t>
            </a:r>
          </a:p>
          <a:p>
            <a:pPr algn="l">
              <a:lnSpc>
                <a:spcPct val="105000"/>
              </a:lnSpc>
            </a:pPr>
            <a:r>
              <a:rPr sz="3000" b="1">
                <a:solidFill>
                  <a:srgbClr val="0D0D1A"/>
                </a:solidFill>
                <a:latin typeface="Calibri"/>
              </a:rPr>
              <a:t>qui couvre </a:t>
            </a:r>
            <a:r>
              <a:rPr sz="3000" b="1">
                <a:solidFill>
                  <a:srgbClr val="4E56EC"/>
                </a:solidFill>
                <a:latin typeface="Calibri"/>
              </a:rPr>
              <a:t>l'intégralité du cycle produit</a:t>
            </a:r>
            <a:r>
              <a:rPr sz="3000" b="1">
                <a:solidFill>
                  <a:srgbClr val="0D0D1A"/>
                </a:solidFill>
                <a:latin typeface="Calibri"/>
              </a:rPr>
              <a:t> —</a:t>
            </a:r>
          </a:p>
          <a:p>
            <a:pPr algn="l">
              <a:lnSpc>
                <a:spcPct val="105000"/>
              </a:lnSpc>
            </a:pPr>
            <a:r>
              <a:rPr sz="3000" b="1">
                <a:solidFill>
                  <a:srgbClr val="0D0D1A"/>
                </a:solidFill>
                <a:latin typeface="Calibri"/>
              </a:rPr>
              <a:t>de la conception au feedback utilisateur.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206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>
                <a:solidFill>
                  <a:srgbClr val="606080"/>
                </a:solidFill>
                <a:latin typeface="Calibri Light"/>
              </a:rPr>
              <a:t>Connectée au release planning Atlassian. Pensée pour les équipes Produit &amp; Tech qui veulent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606080"/>
                </a:solidFill>
                <a:latin typeface="Calibri Light"/>
              </a:rPr>
              <a:t>fermer la boucle entre ce qu'elles construisent, ce que comprennent leurs utilisateurs, et ce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606080"/>
                </a:solidFill>
                <a:latin typeface="Calibri Light"/>
              </a:rPr>
              <a:t>qu'elles décident de prioriser ensuite.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06080"/>
                </a:solidFill>
                <a:latin typeface="Calibri Light"/>
              </a:rPr>
              <a:t>SKAPA · AI Product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06080"/>
                </a:solidFill>
                <a:latin typeface="Calibri Light"/>
              </a:rPr>
              <a:t>02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spc="300">
                <a:solidFill>
                  <a:srgbClr val="4E56EC"/>
                </a:solidFill>
                <a:latin typeface="Calibri"/>
              </a:rPr>
              <a:t>SKAPA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50">
                <a:solidFill>
                  <a:srgbClr val="606080"/>
                </a:solidFill>
                <a:latin typeface="Calibri Light"/>
              </a:rPr>
              <a:t>AI PRODUCT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50">
                <a:solidFill>
                  <a:srgbClr val="4E56EC"/>
                </a:solidFill>
                <a:latin typeface="Calibri Light"/>
              </a:rPr>
              <a:t>LES 4 PILIERS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0D0D1A"/>
                </a:solidFill>
                <a:latin typeface="Calibri"/>
              </a:rPr>
              <a:t>Construire. Comprendre. Auditer. Apprendre.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383280"/>
            <a:ext cx="269748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6098480"/>
            <a:ext cx="2697480" cy="28000"/>
          </a:xfrm>
          <a:prstGeom prst="rect">
            <a:avLst/>
          </a:prstGeom>
          <a:solidFill>
            <a:srgbClr val="4E5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50">
                <a:solidFill>
                  <a:srgbClr val="4E56EC"/>
                </a:solidFill>
                <a:latin typeface="Calibri Light"/>
              </a:rPr>
              <a:t>CONSTRUIRE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2336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D0D1A"/>
                </a:solidFill>
                <a:latin typeface="Calibri"/>
              </a:rPr>
              <a:t>Build 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09160"/>
            <a:ext cx="2148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606080"/>
                </a:solidFill>
                <a:latin typeface="Calibri Light"/>
              </a:rPr>
              <a:t>Full stack, dans vos contraintes,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606080"/>
                </a:solidFill>
                <a:latin typeface="Calibri Light"/>
              </a:rPr>
              <a:t>déployé en production.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4864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EE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 spc="200">
                <a:solidFill>
                  <a:srgbClr val="4E56EC"/>
                </a:solidFill>
                <a:latin typeface="Calibri Light"/>
              </a:rPr>
              <a:t>Beta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3383280"/>
            <a:ext cx="269748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6098480"/>
            <a:ext cx="2697480" cy="28000"/>
          </a:xfrm>
          <a:prstGeom prst="rect">
            <a:avLst/>
          </a:prstGeom>
          <a:solidFill>
            <a:srgbClr val="A0A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36576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50">
                <a:solidFill>
                  <a:srgbClr val="A0A6F8"/>
                </a:solidFill>
                <a:latin typeface="Calibri Light"/>
              </a:rPr>
              <a:t>COMPRENDRE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402336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D0D1A"/>
                </a:solidFill>
                <a:latin typeface="Calibri"/>
              </a:rPr>
              <a:t>Project 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4709160"/>
            <a:ext cx="2148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606080"/>
                </a:solidFill>
                <a:latin typeface="Calibri Light"/>
              </a:rPr>
              <a:t>Communication avec le produit,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606080"/>
                </a:solidFill>
                <a:latin typeface="Calibri Light"/>
              </a:rPr>
              <a:t>compréhension des choix.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11880" y="54864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EE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 spc="200">
                <a:solidFill>
                  <a:srgbClr val="4E56EC"/>
                </a:solidFill>
                <a:latin typeface="Calibri Light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3383280"/>
            <a:ext cx="269748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6098480"/>
            <a:ext cx="2697480" cy="28000"/>
          </a:xfrm>
          <a:prstGeom prst="rect">
            <a:avLst/>
          </a:prstGeom>
          <a:solidFill>
            <a:srgbClr val="6C7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6576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50">
                <a:solidFill>
                  <a:srgbClr val="6C72E0"/>
                </a:solidFill>
                <a:latin typeface="Calibri Light"/>
              </a:rPr>
              <a:t>AUDITER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02336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D0D1A"/>
                </a:solidFill>
                <a:latin typeface="Calibri"/>
              </a:rPr>
              <a:t>Health Care Product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709160"/>
            <a:ext cx="2148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606080"/>
                </a:solidFill>
                <a:latin typeface="Calibri Light"/>
              </a:rPr>
              <a:t>UX, accessibilité, éco-conception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606080"/>
                </a:solidFill>
                <a:latin typeface="Calibri Light"/>
              </a:rPr>
              <a:t>mesurées en continu.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54864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EE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 spc="200">
                <a:solidFill>
                  <a:srgbClr val="4E56EC"/>
                </a:solidFill>
                <a:latin typeface="Calibri Light"/>
              </a:rPr>
              <a:t>Beta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15400" y="3383280"/>
            <a:ext cx="269748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15400" y="6098480"/>
            <a:ext cx="2697480" cy="2800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20" y="36576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50">
                <a:solidFill>
                  <a:srgbClr val="FB923C"/>
                </a:solidFill>
                <a:latin typeface="Calibri Light"/>
              </a:rPr>
              <a:t>APPRENDRE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402336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D0D1A"/>
                </a:solidFill>
                <a:latin typeface="Calibri"/>
              </a:rPr>
              <a:t>Personae 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4709160"/>
            <a:ext cx="2148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606080"/>
                </a:solidFill>
                <a:latin typeface="Calibri Light"/>
              </a:rPr>
              <a:t>Retours utilisateurs, personas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606080"/>
                </a:solidFill>
                <a:latin typeface="Calibri Light"/>
              </a:rPr>
              <a:t>dynamiques, release planning.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89720" y="54864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 spc="200">
                <a:solidFill>
                  <a:srgbClr val="EA580C"/>
                </a:solidFill>
                <a:latin typeface="Calibri Light"/>
              </a:rPr>
              <a:t>En dev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06080"/>
                </a:solidFill>
                <a:latin typeface="Calibri Light"/>
              </a:rPr>
              <a:t>SKAPA · AI Product Platform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06080"/>
                </a:solidFill>
                <a:latin typeface="Calibri Light"/>
              </a:rPr>
              <a:t>03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spc="300">
                <a:solidFill>
                  <a:srgbClr val="4E56EC"/>
                </a:solidFill>
                <a:latin typeface="Calibri"/>
              </a:rPr>
              <a:t>SKAPA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50">
                <a:solidFill>
                  <a:srgbClr val="606080"/>
                </a:solidFill>
                <a:latin typeface="Calibri Light"/>
              </a:rPr>
              <a:t>AI PRODUCT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50">
                <a:solidFill>
                  <a:srgbClr val="4E56EC"/>
                </a:solidFill>
                <a:latin typeface="Calibri Light"/>
              </a:rPr>
              <a:t>LE CYCLE CONTINU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D0D1A"/>
                </a:solidFill>
                <a:latin typeface="Calibri"/>
              </a:rPr>
              <a:t>Un système vivant. Pas une suite d'outils.</a:t>
            </a:r>
          </a:p>
        </p:txBody>
      </p:sp>
      <p:sp>
        <p:nvSpPr>
          <p:cNvPr id="7" name="Oval 6"/>
          <p:cNvSpPr/>
          <p:nvPr/>
        </p:nvSpPr>
        <p:spPr>
          <a:xfrm>
            <a:off x="1143000" y="3931920"/>
            <a:ext cx="822960" cy="822960"/>
          </a:xfrm>
          <a:prstGeom prst="ellipse">
            <a:avLst/>
          </a:prstGeom>
          <a:solidFill>
            <a:srgbClr val="4E5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8920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D0D1A"/>
                </a:solidFill>
                <a:latin typeface="Calibri"/>
              </a:rPr>
              <a:t>Build 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30352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606080"/>
                </a:solidFill>
                <a:latin typeface="Calibri Light"/>
              </a:rPr>
              <a:t>Construit</a:t>
            </a:r>
          </a:p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606080"/>
                </a:solidFill>
                <a:latin typeface="Calibri Light"/>
              </a:rPr>
              <a:t>&amp; déploie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05456" y="4297680"/>
            <a:ext cx="246888" cy="109728"/>
          </a:xfrm>
          <a:prstGeom prst="rightArrow">
            <a:avLst/>
          </a:prstGeom>
          <a:solidFill>
            <a:srgbClr val="DCD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91840" y="3931920"/>
            <a:ext cx="822960" cy="822960"/>
          </a:xfrm>
          <a:prstGeom prst="ellipse">
            <a:avLst/>
          </a:prstGeom>
          <a:solidFill>
            <a:srgbClr val="A0A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8920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D0D1A"/>
                </a:solidFill>
                <a:latin typeface="Calibri"/>
              </a:rPr>
              <a:t>Project 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530352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606080"/>
                </a:solidFill>
                <a:latin typeface="Calibri Light"/>
              </a:rPr>
              <a:t>Comprend</a:t>
            </a:r>
          </a:p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606080"/>
                </a:solidFill>
                <a:latin typeface="Calibri Light"/>
              </a:rPr>
              <a:t>&amp; documente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654296" y="4297680"/>
            <a:ext cx="246888" cy="109728"/>
          </a:xfrm>
          <a:prstGeom prst="rightArrow">
            <a:avLst/>
          </a:prstGeom>
          <a:solidFill>
            <a:srgbClr val="DCD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440680" y="3931920"/>
            <a:ext cx="822960" cy="822960"/>
          </a:xfrm>
          <a:prstGeom prst="ellipse">
            <a:avLst/>
          </a:prstGeom>
          <a:solidFill>
            <a:srgbClr val="6C7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48920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D0D1A"/>
                </a:solidFill>
                <a:latin typeface="Calibri"/>
              </a:rPr>
              <a:t>Health Care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530352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606080"/>
                </a:solidFill>
                <a:latin typeface="Calibri Light"/>
              </a:rPr>
              <a:t>Audite</a:t>
            </a:r>
          </a:p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606080"/>
                </a:solidFill>
                <a:latin typeface="Calibri Light"/>
              </a:rPr>
              <a:t>&amp; recommande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803136" y="4297680"/>
            <a:ext cx="246888" cy="109728"/>
          </a:xfrm>
          <a:prstGeom prst="rightArrow">
            <a:avLst/>
          </a:prstGeom>
          <a:solidFill>
            <a:srgbClr val="DCD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89520" y="3931920"/>
            <a:ext cx="822960" cy="822960"/>
          </a:xfrm>
          <a:prstGeom prst="ellipse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6600" y="48920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D0D1A"/>
                </a:solidFill>
                <a:latin typeface="Calibri"/>
              </a:rPr>
              <a:t>Personae 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530352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606080"/>
                </a:solidFill>
                <a:latin typeface="Calibri Light"/>
              </a:rPr>
              <a:t>Apprend</a:t>
            </a:r>
          </a:p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606080"/>
                </a:solidFill>
                <a:latin typeface="Calibri Light"/>
              </a:rPr>
              <a:t>&amp; priorise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951976" y="4297680"/>
            <a:ext cx="246888" cy="109728"/>
          </a:xfrm>
          <a:prstGeom prst="rightArrow">
            <a:avLst/>
          </a:prstGeom>
          <a:solidFill>
            <a:srgbClr val="DCD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38360" y="3931920"/>
            <a:ext cx="822960" cy="82296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48920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D0D1A"/>
                </a:solidFill>
                <a:latin typeface="Calibri"/>
              </a:rPr>
              <a:t>Release Planning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530352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606080"/>
                </a:solidFill>
                <a:latin typeface="Calibri Light"/>
              </a:rPr>
              <a:t>Atlassian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943600"/>
            <a:ext cx="9418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606080"/>
                </a:solidFill>
                <a:latin typeface="Calibri Light"/>
              </a:rPr>
              <a:t>Chaque module alimente le suivant. Les retours utilisateurs remontent dans le release planning.</a:t>
            </a:r>
          </a:p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606080"/>
                </a:solidFill>
                <a:latin typeface="Calibri Light"/>
              </a:rPr>
              <a:t>Le release planning alimente Build OS. Le cycle ne s'arrête jamais.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06080"/>
                </a:solidFill>
                <a:latin typeface="Calibri Light"/>
              </a:rPr>
              <a:t>SKAPA · AI Product Platform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06080"/>
                </a:solidFill>
                <a:latin typeface="Calibri Light"/>
              </a:rPr>
              <a:t>04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spc="300">
                <a:solidFill>
                  <a:srgbClr val="4E56EC"/>
                </a:solidFill>
                <a:latin typeface="Calibri"/>
              </a:rPr>
              <a:t>SKAPA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50">
                <a:solidFill>
                  <a:srgbClr val="606080"/>
                </a:solidFill>
                <a:latin typeface="Calibri Light"/>
              </a:rPr>
              <a:t>AI PRODUCT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EE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 spc="200">
                <a:solidFill>
                  <a:srgbClr val="4E56EC"/>
                </a:solidFill>
                <a:latin typeface="Calibri Light"/>
              </a:rPr>
              <a:t>MODULE 01 · BETA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300">
                <a:solidFill>
                  <a:srgbClr val="4E56EC"/>
                </a:solidFill>
                <a:latin typeface="Calibri Light"/>
              </a:rPr>
              <a:t>CONSTRUIRE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0D0D1A"/>
                </a:solidFill>
                <a:latin typeface="Calibri"/>
              </a:rPr>
              <a:t>Build OS — full stack,</a:t>
            </a:r>
          </a:p>
          <a:p>
            <a:pPr algn="l">
              <a:lnSpc>
                <a:spcPct val="105000"/>
              </a:lnSpc>
            </a:pPr>
            <a:r>
              <a:rPr sz="4000" b="1">
                <a:solidFill>
                  <a:srgbClr val="0D0D1A"/>
                </a:solidFill>
                <a:latin typeface="Calibri"/>
              </a:rPr>
              <a:t>dans vos contraintes.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062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606080"/>
                </a:solidFill>
                <a:latin typeface="Calibri Light"/>
              </a:rPr>
              <a:t>Génère votre produit digital simplement, sans paramétrage — dans l'environnement tech et</a:t>
            </a:r>
          </a:p>
          <a:p>
            <a:pPr algn="l">
              <a:lnSpc>
                <a:spcPct val="155000"/>
              </a:lnSpc>
            </a:pPr>
            <a:r>
              <a:rPr sz="1400" b="0">
                <a:solidFill>
                  <a:srgbClr val="606080"/>
                </a:solidFill>
                <a:latin typeface="Calibri Light"/>
              </a:rPr>
              <a:t>design de chaque produit. Front, back, base de données. Déployé en production réelle.</a:t>
            </a:r>
          </a:p>
          <a:p>
            <a:pPr algn="l">
              <a:lnSpc>
                <a:spcPct val="155000"/>
              </a:lnSpc>
            </a:pPr>
            <a:r>
              <a:rPr sz="1400" b="0">
                <a:solidFill>
                  <a:srgbClr val="606080"/>
                </a:solidFill>
                <a:latin typeface="Calibri Light"/>
              </a:rPr>
              <a:t>Accessible à n'importe quel métier — aussi simple que Lovable, infiniment plus puissant.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669280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E56EC"/>
                </a:solidFill>
                <a:latin typeface="Calibri Light"/>
              </a:rPr>
              <a:t>→ Génération full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87044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06080"/>
                </a:solidFill>
                <a:latin typeface="Calibri Light"/>
              </a:rPr>
              <a:t>dans votre DSM, vos conventions, votre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5669280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E56EC"/>
                </a:solidFill>
                <a:latin typeface="Calibri Light"/>
              </a:rPr>
              <a:t>→ Accessible sans développeur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587044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06080"/>
                </a:solidFill>
                <a:latin typeface="Calibri Light"/>
              </a:rPr>
              <a:t>aussi simple que Lovable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5669280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E56EC"/>
                </a:solidFill>
                <a:latin typeface="Calibri Light"/>
              </a:rPr>
              <a:t>→ Multi-produit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587044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06080"/>
                </a:solidFill>
                <a:latin typeface="Calibri Light"/>
              </a:rPr>
              <a:t>un contexte isolé par produit, un clic pour permuter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035040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E56EC"/>
                </a:solidFill>
                <a:latin typeface="Calibri Light"/>
              </a:rPr>
              <a:t>→ Portail développeur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623620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06080"/>
                </a:solidFill>
                <a:latin typeface="Calibri Light"/>
              </a:rPr>
              <a:t>code auditable en 1 clic — Claude Code, Cursor, etc.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6035040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E56EC"/>
                </a:solidFill>
                <a:latin typeface="Calibri Light"/>
              </a:rPr>
              <a:t>→ Intégration Jira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623620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06080"/>
                </a:solidFill>
                <a:latin typeface="Calibri Light"/>
              </a:rPr>
              <a:t>bidirectionnelle + documentation parallèle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6035040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E56EC"/>
                </a:solidFill>
                <a:latin typeface="Calibri Light"/>
              </a:rPr>
              <a:t>→ Déploiement réel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85632" y="623620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06080"/>
                </a:solidFill>
                <a:latin typeface="Calibri Light"/>
              </a:rPr>
              <a:t>pas un prototype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06080"/>
                </a:solidFill>
                <a:latin typeface="Calibri Light"/>
              </a:rPr>
              <a:t>SKAPA · AI Product 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06080"/>
                </a:solidFill>
                <a:latin typeface="Calibri Light"/>
              </a:rPr>
              <a:t>05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spc="300">
                <a:solidFill>
                  <a:srgbClr val="FFFFFF"/>
                </a:solidFill>
                <a:latin typeface="Calibri"/>
              </a:rPr>
              <a:t>SKAPA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50">
                <a:solidFill>
                  <a:srgbClr val="A0A6F8"/>
                </a:solidFill>
                <a:latin typeface="Calibri Light"/>
              </a:rPr>
              <a:t>BUILD OS ·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97280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Calibri"/>
              </a:rPr>
              <a:t>Les autres outils génèrent du code.</a:t>
            </a:r>
          </a:p>
          <a:p>
            <a:pPr algn="l">
              <a:lnSpc>
                <a:spcPct val="105000"/>
              </a:lnSpc>
            </a:pPr>
            <a:r>
              <a:rPr sz="4400" b="1">
                <a:solidFill>
                  <a:srgbClr val="A0A6F8"/>
                </a:solidFill>
                <a:latin typeface="Calibri"/>
              </a:rPr>
              <a:t>Build OS livre votre produit.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6984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600" b="0">
                <a:solidFill>
                  <a:srgbClr val="A0A6F8"/>
                </a:solidFill>
                <a:latin typeface="Calibri Light"/>
              </a:rPr>
              <a:t>Dans votre design system, vos conventions, votre architecture.</a:t>
            </a:r>
          </a:p>
          <a:p>
            <a:pPr algn="l">
              <a:lnSpc>
                <a:spcPct val="160000"/>
              </a:lnSpc>
            </a:pPr>
            <a:r>
              <a:rPr sz="1600" b="0">
                <a:solidFill>
                  <a:srgbClr val="A0A6F8"/>
                </a:solidFill>
                <a:latin typeface="Calibri Light"/>
              </a:rPr>
              <a:t>Pas un prototype. Un produit.</a:t>
            </a:r>
          </a:p>
          <a:p>
            <a:pPr algn="l">
              <a:lnSpc>
                <a:spcPct val="160000"/>
              </a:lnSpc>
            </a:pPr>
            <a:r>
              <a:rPr sz="1600" b="0">
                <a:solidFill>
                  <a:srgbClr val="A0A6F8"/>
                </a:solidFill>
                <a:latin typeface="Calibri Light"/>
              </a:rPr>
              <a:t/>
            </a:r>
          </a:p>
          <a:p>
            <a:pPr algn="l">
              <a:lnSpc>
                <a:spcPct val="160000"/>
              </a:lnSpc>
            </a:pPr>
            <a:r>
              <a:rPr sz="1600" b="0">
                <a:solidFill>
                  <a:srgbClr val="A0A6F8"/>
                </a:solidFill>
                <a:latin typeface="Calibri Light"/>
              </a:rPr>
              <a:t>Co-construit avec des équipes métier qui connaissent déjà les outils du marché — et n'en</a:t>
            </a:r>
          </a:p>
          <a:p>
            <a:pPr algn="l">
              <a:lnSpc>
                <a:spcPct val="160000"/>
              </a:lnSpc>
            </a:pPr>
            <a:r>
              <a:rPr sz="1600" b="0">
                <a:solidFill>
                  <a:srgbClr val="A0A6F8"/>
                </a:solidFill>
                <a:latin typeface="Calibri Light"/>
              </a:rPr>
              <a:t>trouvaient aucun à la hauteur — et avec des développeurs lassés de retravailler du code généré.</a:t>
            </a:r>
          </a:p>
          <a:p>
            <a:pPr algn="l">
              <a:lnSpc>
                <a:spcPct val="160000"/>
              </a:lnSpc>
            </a:pPr>
            <a:r>
              <a:rPr sz="1600" b="0">
                <a:solidFill>
                  <a:srgbClr val="A0A6F8"/>
                </a:solidFill>
                <a:latin typeface="Calibri Light"/>
              </a:rPr>
              <a:t>Chaque feature répond à une friction réelle.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A0A6F8"/>
                </a:solidFill>
                <a:latin typeface="Calibri Light"/>
              </a:rPr>
              <a:t>06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spc="300">
                <a:solidFill>
                  <a:srgbClr val="4E56EC"/>
                </a:solidFill>
                <a:latin typeface="Calibri"/>
              </a:rPr>
              <a:t>SKAPA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50">
                <a:solidFill>
                  <a:srgbClr val="606080"/>
                </a:solidFill>
                <a:latin typeface="Calibri Light"/>
              </a:rPr>
              <a:t>AI PRODUCT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50">
                <a:solidFill>
                  <a:srgbClr val="4E56EC"/>
                </a:solidFill>
                <a:latin typeface="Calibri Light"/>
              </a:rPr>
              <a:t>POUR CHAQUE PROFIL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D0D1A"/>
                </a:solidFill>
                <a:latin typeface="Calibri"/>
              </a:rPr>
              <a:t>Quatre audiences. Une seule plateforme.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926080"/>
            <a:ext cx="5532120" cy="1783080"/>
          </a:xfrm>
          <a:prstGeom prst="rect">
            <a:avLst/>
          </a:prstGeom>
          <a:solidFill>
            <a:srgbClr val="FFFFFF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926080"/>
            <a:ext cx="38100" cy="1783080"/>
          </a:xfrm>
          <a:prstGeom prst="rect">
            <a:avLst/>
          </a:prstGeom>
          <a:solidFill>
            <a:srgbClr val="4E5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63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E56EC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815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00">
                <a:solidFill>
                  <a:srgbClr val="4E56EC"/>
                </a:solidFill>
                <a:latin typeface="Calibri Light"/>
              </a:rPr>
              <a:t>MÉTIER &amp; 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83280"/>
            <a:ext cx="5074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D0D1A"/>
                </a:solidFill>
                <a:latin typeface="Calibri"/>
              </a:rPr>
              <a:t>Concevez comme si votre meilleure équipe de designers, devs et QA était à vos côtés.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04488"/>
            <a:ext cx="5074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06080"/>
                </a:solidFill>
                <a:latin typeface="Calibri Light"/>
              </a:rPr>
              <a:t>·  Full stack livré en production — sans être développeur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96512"/>
            <a:ext cx="5074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06080"/>
                </a:solidFill>
                <a:latin typeface="Calibri Light"/>
              </a:rPr>
              <a:t>·  Dans votre DSM, vos contraintes et votre archi existante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88536"/>
            <a:ext cx="5074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06080"/>
                </a:solidFill>
                <a:latin typeface="Calibri Light"/>
              </a:rPr>
              <a:t>·  Multi-produit — un clic pour permuter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480560"/>
            <a:ext cx="5074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06080"/>
                </a:solidFill>
                <a:latin typeface="Calibri Light"/>
              </a:rPr>
              <a:t>·  Du concept au déploiement réel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926080"/>
            <a:ext cx="5532120" cy="1783080"/>
          </a:xfrm>
          <a:prstGeom prst="rect">
            <a:avLst/>
          </a:prstGeom>
          <a:solidFill>
            <a:srgbClr val="FFFFFF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926080"/>
            <a:ext cx="38100" cy="1783080"/>
          </a:xfrm>
          <a:prstGeom prst="rect">
            <a:avLst/>
          </a:prstGeom>
          <a:solidFill>
            <a:srgbClr val="6C7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063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C72E0"/>
                </a:solidFill>
                <a:latin typeface="Calibr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0815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00">
                <a:solidFill>
                  <a:srgbClr val="6C72E0"/>
                </a:solidFill>
                <a:latin typeface="Calibri Light"/>
              </a:rPr>
              <a:t>DÉVELOPPEURS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383280"/>
            <a:ext cx="5074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D0D1A"/>
                </a:solidFill>
                <a:latin typeface="Calibri"/>
              </a:rPr>
              <a:t>Un système complet prêt à valider dans votre environnement. Pas une page blanche à réécrire.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904488"/>
            <a:ext cx="5074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06080"/>
                </a:solidFill>
                <a:latin typeface="Calibri Light"/>
              </a:rPr>
              <a:t>·  Portail développeur — code contextualisé, documenté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096512"/>
            <a:ext cx="5074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06080"/>
                </a:solidFill>
                <a:latin typeface="Calibri Light"/>
              </a:rPr>
              <a:t>·  Compatible Claude Code, Cursor et votre infra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288536"/>
            <a:ext cx="5074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06080"/>
                </a:solidFill>
                <a:latin typeface="Calibri Light"/>
              </a:rPr>
              <a:t>·  Jira bidirectionnel — génération + lecture des tickets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480560"/>
            <a:ext cx="5074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06080"/>
                </a:solidFill>
                <a:latin typeface="Calibri Light"/>
              </a:rPr>
              <a:t>·  Passation fluide depuis le métier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846320"/>
            <a:ext cx="5532120" cy="1783080"/>
          </a:xfrm>
          <a:prstGeom prst="rect">
            <a:avLst/>
          </a:prstGeom>
          <a:solidFill>
            <a:srgbClr val="FFFFFF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846320"/>
            <a:ext cx="38100" cy="1783080"/>
          </a:xfrm>
          <a:prstGeom prst="rect">
            <a:avLst/>
          </a:prstGeom>
          <a:solidFill>
            <a:srgbClr val="6C7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9834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C72E0"/>
                </a:solidFill>
                <a:latin typeface="Calibri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0017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00">
                <a:solidFill>
                  <a:srgbClr val="6C72E0"/>
                </a:solidFill>
                <a:latin typeface="Calibri Light"/>
              </a:rPr>
              <a:t>ARCHITECTES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303520"/>
            <a:ext cx="5074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D0D1A"/>
                </a:solidFill>
                <a:latin typeface="Calibri"/>
              </a:rPr>
              <a:t>Dans vos contraintes. Pas à côté.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824728"/>
            <a:ext cx="5074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06080"/>
                </a:solidFill>
                <a:latin typeface="Calibri Light"/>
              </a:rPr>
              <a:t>·  Architecture, sécurité, best practices respectées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6016752"/>
            <a:ext cx="5074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06080"/>
                </a:solidFill>
                <a:latin typeface="Calibri Light"/>
              </a:rPr>
              <a:t>·  Patterns existants — pas de dette imposée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6208776"/>
            <a:ext cx="5074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06080"/>
                </a:solidFill>
                <a:latin typeface="Calibri Light"/>
              </a:rPr>
              <a:t>·  Structure BDD existante intégrée nativement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6400800"/>
            <a:ext cx="5074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06080"/>
                </a:solidFill>
                <a:latin typeface="Calibri Light"/>
              </a:rPr>
              <a:t>·  Workflow multi-agents — qualité AI Expert Squad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4846320"/>
            <a:ext cx="5532120" cy="1783080"/>
          </a:xfrm>
          <a:prstGeom prst="rect">
            <a:avLst/>
          </a:prstGeom>
          <a:solidFill>
            <a:srgbClr val="FFFFFF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4846320"/>
            <a:ext cx="38100" cy="1783080"/>
          </a:xfrm>
          <a:prstGeom prst="rect">
            <a:avLst/>
          </a:prstGeom>
          <a:solidFill>
            <a:srgbClr val="A0A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49834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A0A6F8"/>
                </a:solidFill>
                <a:latin typeface="Calibri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0017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00">
                <a:solidFill>
                  <a:srgbClr val="A0A6F8"/>
                </a:solidFill>
                <a:latin typeface="Calibri Light"/>
              </a:rPr>
              <a:t>ACHATS &amp; DIRECTION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5303520"/>
            <a:ext cx="5074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D0D1A"/>
                </a:solidFill>
                <a:latin typeface="Calibri"/>
              </a:rPr>
              <a:t>Souveraineté. Conformité. Réduction des coûts.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5824728"/>
            <a:ext cx="5074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06080"/>
                </a:solidFill>
                <a:latin typeface="Calibri Light"/>
              </a:rPr>
              <a:t>·  LLM agnostic — vous gardez le contrôle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6016752"/>
            <a:ext cx="5074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06080"/>
                </a:solidFill>
                <a:latin typeface="Calibri Light"/>
              </a:rPr>
              <a:t>·  On-premise ou cloud souverain EU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6208776"/>
            <a:ext cx="5074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06080"/>
                </a:solidFill>
                <a:latin typeface="Calibri Light"/>
              </a:rPr>
              <a:t>·  Conforme aux exigences réglementaires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6400800"/>
            <a:ext cx="5074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06080"/>
                </a:solidFill>
                <a:latin typeface="Calibri Light"/>
              </a:rPr>
              <a:t>·  Réduit le nombre d'outils dans votre stack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06080"/>
                </a:solidFill>
                <a:latin typeface="Calibri Light"/>
              </a:rPr>
              <a:t>SKAPA · AI Product Platform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06080"/>
                </a:solidFill>
                <a:latin typeface="Calibri Light"/>
              </a:rPr>
              <a:t>07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spc="300">
                <a:solidFill>
                  <a:srgbClr val="4E56EC"/>
                </a:solidFill>
                <a:latin typeface="Calibri"/>
              </a:rPr>
              <a:t>SKAPA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50">
                <a:solidFill>
                  <a:srgbClr val="606080"/>
                </a:solidFill>
                <a:latin typeface="Calibri Light"/>
              </a:rPr>
              <a:t>AI PRODUCT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50">
                <a:solidFill>
                  <a:srgbClr val="4E56EC"/>
                </a:solidFill>
                <a:latin typeface="Calibri Light"/>
              </a:rPr>
              <a:t>EN RÉSUMÉ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D0D1A"/>
                </a:solidFill>
                <a:latin typeface="Calibri"/>
              </a:rPr>
              <a:t>Ce qui rend Build OS unique.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017520"/>
            <a:ext cx="269748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2004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4E56EC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D0D1A"/>
                </a:solidFill>
                <a:latin typeface="Calibri"/>
              </a:rPr>
              <a:t>Full stack réel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31920"/>
            <a:ext cx="2331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606080"/>
                </a:solidFill>
                <a:latin typeface="Calibri Light"/>
              </a:rPr>
              <a:t>Front + back + BDD — un produit, pas un prototype.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3017520"/>
            <a:ext cx="269748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32004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4E56EC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352044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D0D1A"/>
                </a:solidFill>
                <a:latin typeface="Calibri"/>
              </a:rPr>
              <a:t>Dans vos contraintes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931920"/>
            <a:ext cx="2331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606080"/>
                </a:solidFill>
                <a:latin typeface="Calibri Light"/>
              </a:rPr>
              <a:t>DSM, conventions, archi BDD — votre code, pas du générique.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017520"/>
            <a:ext cx="269748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2004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4E56EC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52044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D0D1A"/>
                </a:solidFill>
                <a:latin typeface="Calibri"/>
              </a:rPr>
              <a:t>Sans développeur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931920"/>
            <a:ext cx="2331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606080"/>
                </a:solidFill>
                <a:latin typeface="Calibri Light"/>
              </a:rPr>
              <a:t>Aussi simple que Lovable. Aussi puissant qu'une équipe senior.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3017520"/>
            <a:ext cx="269748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32004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4E56EC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352044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D0D1A"/>
                </a:solidFill>
                <a:latin typeface="Calibri"/>
              </a:rPr>
              <a:t>Multi-produit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3931920"/>
            <a:ext cx="2331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606080"/>
                </a:solidFill>
                <a:latin typeface="Calibri Light"/>
              </a:rPr>
              <a:t>Un clic pour passer d'un produit à l'autre — contexte complet.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709160"/>
            <a:ext cx="269748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8920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4E56EC"/>
                </a:solidFill>
                <a:latin typeface="Calibr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21208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D0D1A"/>
                </a:solidFill>
                <a:latin typeface="Calibri"/>
              </a:rPr>
              <a:t>Connecté à votre SI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623560"/>
            <a:ext cx="2331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606080"/>
                </a:solidFill>
                <a:latin typeface="Calibri Light"/>
              </a:rPr>
              <a:t>Jira, Figma, Git, APIs, BDD — votre stack, intacte.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83280" y="4709160"/>
            <a:ext cx="269748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11880" y="48920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4E56EC"/>
                </a:solidFill>
                <a:latin typeface="Calibr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521208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D0D1A"/>
                </a:solidFill>
                <a:latin typeface="Calibri"/>
              </a:rPr>
              <a:t>Désilotage IT &amp; métier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5623560"/>
            <a:ext cx="2331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606080"/>
                </a:solidFill>
                <a:latin typeface="Calibri Light"/>
              </a:rPr>
              <a:t>Continuité entre vision métier et exécution technique.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4709160"/>
            <a:ext cx="2697480" cy="1554480"/>
          </a:xfrm>
          <a:prstGeom prst="rect">
            <a:avLst/>
          </a:prstGeom>
          <a:solidFill>
            <a:srgbClr val="EEF0FD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48920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4E56EC"/>
                </a:solidFill>
                <a:latin typeface="Calibri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521208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D0D1A"/>
                </a:solidFill>
                <a:latin typeface="Calibri"/>
              </a:rPr>
              <a:t>Code auditable en 1 clic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5623560"/>
            <a:ext cx="2331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606080"/>
                </a:solidFill>
                <a:latin typeface="Calibri Light"/>
              </a:rPr>
              <a:t>Le dev audite dans son environnement — zéro friction.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52560" y="4709160"/>
            <a:ext cx="269748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81160" y="48920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4E56EC"/>
                </a:solidFill>
                <a:latin typeface="Calibri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1160" y="521208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D0D1A"/>
                </a:solidFill>
                <a:latin typeface="Calibri"/>
              </a:rPr>
              <a:t>LLM agnostic &amp; souverain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81160" y="5623560"/>
            <a:ext cx="2331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606080"/>
                </a:solidFill>
                <a:latin typeface="Calibri Light"/>
              </a:rPr>
              <a:t>Cloud souverain ou on-premise selon vos règles.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06080"/>
                </a:solidFill>
                <a:latin typeface="Calibri Light"/>
              </a:rPr>
              <a:t>SKAPA · AI Product Platform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06080"/>
                </a:solidFill>
                <a:latin typeface="Calibri Light"/>
              </a:rPr>
              <a:t>08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spc="300">
                <a:solidFill>
                  <a:srgbClr val="4E56EC"/>
                </a:solidFill>
                <a:latin typeface="Calibri"/>
              </a:rPr>
              <a:t>SKAPA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50">
                <a:solidFill>
                  <a:srgbClr val="606080"/>
                </a:solidFill>
                <a:latin typeface="Calibri Light"/>
              </a:rPr>
              <a:t>AI PRODUCT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50">
                <a:solidFill>
                  <a:srgbClr val="4E56EC"/>
                </a:solidFill>
                <a:latin typeface="Calibri Light"/>
              </a:rPr>
              <a:t>MULTI-PRODUIT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0D0D1A"/>
                </a:solidFill>
                <a:latin typeface="Calibri"/>
              </a:rPr>
              <a:t>Chaque produit,</a:t>
            </a:r>
          </a:p>
          <a:p>
            <a:pPr algn="l">
              <a:lnSpc>
                <a:spcPct val="105000"/>
              </a:lnSpc>
            </a:pPr>
            <a:r>
              <a:rPr sz="3600" b="1">
                <a:solidFill>
                  <a:srgbClr val="0D0D1A"/>
                </a:solidFill>
                <a:latin typeface="Calibri"/>
              </a:rPr>
              <a:t>son propre univers.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0"/>
            <a:ext cx="5943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>
                <a:solidFill>
                  <a:srgbClr val="606080"/>
                </a:solidFill>
                <a:latin typeface="Calibri Light"/>
              </a:rPr>
              <a:t>Passez d'un produit à l'autre en un clic.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606080"/>
                </a:solidFill>
                <a:latin typeface="Calibri Light"/>
              </a:rPr>
              <a:t/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606080"/>
                </a:solidFill>
                <a:latin typeface="Calibri Light"/>
              </a:rPr>
              <a:t>Build OS permute automatiquement le DSM,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606080"/>
                </a:solidFill>
                <a:latin typeface="Calibri Light"/>
              </a:rPr>
              <a:t>les conventions de code, la structure BDD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606080"/>
                </a:solidFill>
                <a:latin typeface="Calibri Light"/>
              </a:rPr>
              <a:t>et les APIs connectées.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606080"/>
                </a:solidFill>
                <a:latin typeface="Calibri Light"/>
              </a:rPr>
              <a:t/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606080"/>
                </a:solidFill>
                <a:latin typeface="Calibri Light"/>
              </a:rPr>
              <a:t>Chaque produit vit dans son propre contexte —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606080"/>
                </a:solidFill>
                <a:latin typeface="Calibri Light"/>
              </a:rPr>
              <a:t>isolé, cohérent, prêt.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2194560"/>
            <a:ext cx="3931920" cy="1005840"/>
          </a:xfrm>
          <a:prstGeom prst="roundRect">
            <a:avLst>
              <a:gd name="adj" fmla="val 15000"/>
            </a:avLst>
          </a:prstGeom>
          <a:solidFill>
            <a:srgbClr val="EEF0FD"/>
          </a:solidFill>
          <a:ln>
            <a:solidFill>
              <a:srgbClr val="4E5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01000" y="2578608"/>
            <a:ext cx="164592" cy="164592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395728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D0D1A"/>
                </a:solidFill>
                <a:latin typeface="Calibri"/>
              </a:rPr>
              <a:t>Un contexte par produit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26974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06080"/>
                </a:solidFill>
                <a:latin typeface="Calibri Light"/>
              </a:rPr>
              <a:t>DSM, code, BDD et APIs — chargés automatiquement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3474720"/>
            <a:ext cx="3931920" cy="74980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359359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E56EC"/>
                </a:solidFill>
                <a:latin typeface="Calibri"/>
              </a:rPr>
              <a:t>● Produit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88620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06080"/>
                </a:solidFill>
                <a:latin typeface="Calibri Light"/>
              </a:rPr>
              <a:t>React · Node.js · PostgreSQL · Figma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4343400"/>
            <a:ext cx="3931920" cy="74980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446227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E56EC"/>
                </a:solidFill>
                <a:latin typeface="Calibri"/>
              </a:rPr>
              <a:t>● Produit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75488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06080"/>
                </a:solidFill>
                <a:latin typeface="Calibri Light"/>
              </a:rPr>
              <a:t>Angular · Spring · Oracle · Jira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5212080"/>
            <a:ext cx="3931920" cy="74980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533095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E56EC"/>
                </a:solidFill>
                <a:latin typeface="Calibri"/>
              </a:rPr>
              <a:t>● Produit 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562356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06080"/>
                </a:solidFill>
                <a:latin typeface="Calibri Light"/>
              </a:rPr>
              <a:t>Vue · FastAPI · MySQL · Figma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06080"/>
                </a:solidFill>
                <a:latin typeface="Calibri Light"/>
              </a:rPr>
              <a:t>SKAPA · AI Product 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06080"/>
                </a:solidFill>
                <a:latin typeface="Calibri Light"/>
              </a:rPr>
              <a:t>09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spc="300">
                <a:solidFill>
                  <a:srgbClr val="4E56EC"/>
                </a:solidFill>
                <a:latin typeface="Calibri"/>
              </a:rPr>
              <a:t>SKAPA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50">
                <a:solidFill>
                  <a:srgbClr val="606080"/>
                </a:solidFill>
                <a:latin typeface="Calibri Light"/>
              </a:rPr>
              <a:t>AI PRODUCT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50">
                <a:solidFill>
                  <a:srgbClr val="4E56EC"/>
                </a:solidFill>
                <a:latin typeface="Calibri Light"/>
              </a:rPr>
              <a:t>COMPARATIF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0D0D1A"/>
                </a:solidFill>
                <a:latin typeface="Calibri"/>
              </a:rPr>
              <a:t>Pensé pour libérer le métier et l'IT. </a:t>
            </a:r>
            <a:r>
              <a:rPr sz="2200" b="1">
                <a:solidFill>
                  <a:srgbClr val="4E56EC"/>
                </a:solidFill>
                <a:latin typeface="Calibri"/>
              </a:rPr>
              <a:t>Design. Ready to Host.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108960"/>
            <a:ext cx="5029200" cy="292608"/>
          </a:xfrm>
          <a:prstGeom prst="rect">
            <a:avLst/>
          </a:prstGeom>
          <a:solidFill>
            <a:srgbClr val="EEEEF8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154680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D0D1A"/>
                </a:solidFill>
                <a:latin typeface="Calibri Light"/>
              </a:rPr>
              <a:t>Critère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577840" y="3108960"/>
            <a:ext cx="1280160" cy="292608"/>
          </a:xfrm>
          <a:prstGeom prst="rect">
            <a:avLst/>
          </a:prstGeom>
          <a:solidFill>
            <a:srgbClr val="4E56EC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0" y="315468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 Light"/>
              </a:rPr>
              <a:t>Build 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3108960"/>
            <a:ext cx="1005840" cy="292608"/>
          </a:xfrm>
          <a:prstGeom prst="rect">
            <a:avLst/>
          </a:prstGeom>
          <a:solidFill>
            <a:srgbClr val="EEEEF8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315468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0D0D1A"/>
                </a:solidFill>
                <a:latin typeface="Calibri Light"/>
              </a:rPr>
              <a:t>Lovable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3108960"/>
            <a:ext cx="1005840" cy="292608"/>
          </a:xfrm>
          <a:prstGeom prst="rect">
            <a:avLst/>
          </a:prstGeom>
          <a:solidFill>
            <a:srgbClr val="EEEEF8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0" y="315468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0D0D1A"/>
                </a:solidFill>
                <a:latin typeface="Calibri Light"/>
              </a:rPr>
              <a:t>Bolt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3108960"/>
            <a:ext cx="1280160" cy="292608"/>
          </a:xfrm>
          <a:prstGeom prst="rect">
            <a:avLst/>
          </a:prstGeom>
          <a:solidFill>
            <a:srgbClr val="EEEEF8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315468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0D0D1A"/>
                </a:solidFill>
                <a:latin typeface="Calibri Light"/>
              </a:rPr>
              <a:t>Claude Code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49840" y="3108960"/>
            <a:ext cx="1371600" cy="292608"/>
          </a:xfrm>
          <a:prstGeom prst="rect">
            <a:avLst/>
          </a:prstGeom>
          <a:solidFill>
            <a:srgbClr val="EEEEF8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0" y="315468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0D0D1A"/>
                </a:solidFill>
                <a:latin typeface="Calibri Light"/>
              </a:rPr>
              <a:t>Claude Design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401568"/>
            <a:ext cx="10972800" cy="228600"/>
          </a:xfrm>
          <a:prstGeom prst="rect">
            <a:avLst/>
          </a:prstGeom>
          <a:solidFill>
            <a:srgbClr val="EE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429000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200">
                <a:solidFill>
                  <a:srgbClr val="4E56EC"/>
                </a:solidFill>
                <a:latin typeface="Calibri Light"/>
              </a:rPr>
              <a:t>CÔTÉ MÉTIER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630168"/>
            <a:ext cx="10972800" cy="246888"/>
          </a:xfrm>
          <a:prstGeom prst="rect">
            <a:avLst/>
          </a:prstGeom>
          <a:solidFill>
            <a:srgbClr val="FFFFFF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666744"/>
            <a:ext cx="49377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D0D1A"/>
                </a:solidFill>
                <a:latin typeface="Calibri Light"/>
              </a:rPr>
              <a:t>Génération full stack (front + back + BDD)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3657600"/>
            <a:ext cx="12801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6A34A"/>
                </a:solidFill>
                <a:latin typeface="Calibri Light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657600"/>
            <a:ext cx="10058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06080"/>
                </a:solidFill>
                <a:latin typeface="Calibri Light"/>
              </a:rPr>
              <a:t>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3657600"/>
            <a:ext cx="10058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EA580C"/>
                </a:solidFill>
                <a:latin typeface="Calibri Light"/>
              </a:rPr>
              <a:t>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3657600"/>
            <a:ext cx="12801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EA580C"/>
                </a:solidFill>
                <a:latin typeface="Calibri Light"/>
              </a:rPr>
              <a:t>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0" y="3657600"/>
            <a:ext cx="13716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06080"/>
                </a:solidFill>
                <a:latin typeface="Calibri Light"/>
              </a:rPr>
              <a:t>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877056"/>
            <a:ext cx="10972800" cy="246888"/>
          </a:xfrm>
          <a:prstGeom prst="rect">
            <a:avLst/>
          </a:prstGeom>
          <a:solidFill>
            <a:srgbClr val="FFFFFF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913632"/>
            <a:ext cx="49377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D0D1A"/>
                </a:solidFill>
                <a:latin typeface="Calibri Light"/>
              </a:rPr>
              <a:t>Dans votre DSM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3904488"/>
            <a:ext cx="12801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6A34A"/>
                </a:solidFill>
                <a:latin typeface="Calibri Light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904488"/>
            <a:ext cx="10058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06080"/>
                </a:solidFill>
                <a:latin typeface="Calibri Light"/>
              </a:rPr>
              <a:t>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3904488"/>
            <a:ext cx="10058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06080"/>
                </a:solidFill>
                <a:latin typeface="Calibri Light"/>
              </a:rPr>
              <a:t>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3904488"/>
            <a:ext cx="12801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06080"/>
                </a:solidFill>
                <a:latin typeface="Calibri Light"/>
              </a:rPr>
              <a:t>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40" y="3904488"/>
            <a:ext cx="13716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EA580C"/>
                </a:solidFill>
                <a:latin typeface="Calibri Light"/>
              </a:rPr>
              <a:t>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123944"/>
            <a:ext cx="10972800" cy="246888"/>
          </a:xfrm>
          <a:prstGeom prst="rect">
            <a:avLst/>
          </a:prstGeom>
          <a:solidFill>
            <a:srgbClr val="FFFFFF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160520"/>
            <a:ext cx="49377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D0D1A"/>
                </a:solidFill>
                <a:latin typeface="Calibri Light"/>
              </a:rPr>
              <a:t>Contraintes front &amp; structure BDD existante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4151376"/>
            <a:ext cx="12801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6A34A"/>
                </a:solidFill>
                <a:latin typeface="Calibri Light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4151376"/>
            <a:ext cx="10058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06080"/>
                </a:solidFill>
                <a:latin typeface="Calibri Light"/>
              </a:rPr>
              <a:t>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4151376"/>
            <a:ext cx="10058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06080"/>
                </a:solidFill>
                <a:latin typeface="Calibri Light"/>
              </a:rPr>
              <a:t>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9680" y="4151376"/>
            <a:ext cx="12801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06080"/>
                </a:solidFill>
                <a:latin typeface="Calibri Light"/>
              </a:rPr>
              <a:t>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49840" y="4151376"/>
            <a:ext cx="13716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06080"/>
                </a:solidFill>
                <a:latin typeface="Calibri Light"/>
              </a:rPr>
              <a:t>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370832"/>
            <a:ext cx="10972800" cy="246888"/>
          </a:xfrm>
          <a:prstGeom prst="rect">
            <a:avLst/>
          </a:prstGeom>
          <a:solidFill>
            <a:srgbClr val="FFFFFF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4407408"/>
            <a:ext cx="49377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D0D1A"/>
                </a:solidFill>
                <a:latin typeface="Calibri Light"/>
              </a:rPr>
              <a:t>Sans être développeur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77840" y="4398264"/>
            <a:ext cx="12801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6A34A"/>
                </a:solidFill>
                <a:latin typeface="Calibri Light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4398264"/>
            <a:ext cx="10058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6A34A"/>
                </a:solidFill>
                <a:latin typeface="Calibri Light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63840" y="4398264"/>
            <a:ext cx="10058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6A34A"/>
                </a:solidFill>
                <a:latin typeface="Calibri Light"/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69680" y="4398264"/>
            <a:ext cx="12801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06080"/>
                </a:solidFill>
                <a:latin typeface="Calibri Light"/>
              </a:rPr>
              <a:t>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49840" y="4398264"/>
            <a:ext cx="13716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6A34A"/>
                </a:solidFill>
                <a:latin typeface="Calibri Light"/>
              </a:rPr>
              <a:t>✓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4617720"/>
            <a:ext cx="10972800" cy="246888"/>
          </a:xfrm>
          <a:prstGeom prst="rect">
            <a:avLst/>
          </a:prstGeom>
          <a:solidFill>
            <a:srgbClr val="FFFFFF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4654296"/>
            <a:ext cx="49377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D0D1A"/>
                </a:solidFill>
                <a:latin typeface="Calibri Light"/>
              </a:rPr>
              <a:t>Multi-produit / multi-contexte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77840" y="4645152"/>
            <a:ext cx="12801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6A34A"/>
                </a:solidFill>
                <a:latin typeface="Calibri Light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0" y="4645152"/>
            <a:ext cx="10058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06080"/>
                </a:solidFill>
                <a:latin typeface="Calibri Light"/>
              </a:rPr>
              <a:t>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63840" y="4645152"/>
            <a:ext cx="10058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06080"/>
                </a:solidFill>
                <a:latin typeface="Calibri Light"/>
              </a:rPr>
              <a:t>✗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69680" y="4645152"/>
            <a:ext cx="12801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06080"/>
                </a:solidFill>
                <a:latin typeface="Calibri Light"/>
              </a:rPr>
              <a:t>✗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49840" y="4645152"/>
            <a:ext cx="13716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06080"/>
                </a:solidFill>
                <a:latin typeface="Calibri Light"/>
              </a:rPr>
              <a:t>✗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4864608"/>
            <a:ext cx="10972800" cy="228600"/>
          </a:xfrm>
          <a:prstGeom prst="rect">
            <a:avLst/>
          </a:prstGeom>
          <a:solidFill>
            <a:srgbClr val="EE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" y="4892040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200">
                <a:solidFill>
                  <a:srgbClr val="4E56EC"/>
                </a:solidFill>
                <a:latin typeface="Calibri Light"/>
              </a:rPr>
              <a:t>CÔTÉ DEV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5093208"/>
            <a:ext cx="10972800" cy="246888"/>
          </a:xfrm>
          <a:prstGeom prst="rect">
            <a:avLst/>
          </a:prstGeom>
          <a:solidFill>
            <a:srgbClr val="FFFFFF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" y="5129784"/>
            <a:ext cx="49377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D0D1A"/>
                </a:solidFill>
                <a:latin typeface="Calibri Light"/>
              </a:rPr>
              <a:t>Passation métier → dev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77840" y="5120640"/>
            <a:ext cx="12801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6A34A"/>
                </a:solidFill>
                <a:latin typeface="Calibri Light"/>
              </a:rPr>
              <a:t>✓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58000" y="5120640"/>
            <a:ext cx="10058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06080"/>
                </a:solidFill>
                <a:latin typeface="Calibri Light"/>
              </a:rPr>
              <a:t>✗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63840" y="5120640"/>
            <a:ext cx="10058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06080"/>
                </a:solidFill>
                <a:latin typeface="Calibri Light"/>
              </a:rPr>
              <a:t>✗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69680" y="5120640"/>
            <a:ext cx="12801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06080"/>
                </a:solidFill>
                <a:latin typeface="Calibri Light"/>
              </a:rPr>
              <a:t>✗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49840" y="5120640"/>
            <a:ext cx="13716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06080"/>
                </a:solidFill>
                <a:latin typeface="Calibri Light"/>
              </a:rPr>
              <a:t>✗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8640" y="5340096"/>
            <a:ext cx="10972800" cy="246888"/>
          </a:xfrm>
          <a:prstGeom prst="rect">
            <a:avLst/>
          </a:prstGeom>
          <a:solidFill>
            <a:srgbClr val="FFFFFF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0080" y="5376672"/>
            <a:ext cx="49377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D0D1A"/>
                </a:solidFill>
                <a:latin typeface="Calibri Light"/>
              </a:rPr>
              <a:t>Portail développeur + Jira bidirectionnel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77840" y="5367528"/>
            <a:ext cx="12801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6A34A"/>
                </a:solidFill>
                <a:latin typeface="Calibri Light"/>
              </a:rPr>
              <a:t>✓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58000" y="5367528"/>
            <a:ext cx="10058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06080"/>
                </a:solidFill>
                <a:latin typeface="Calibri Light"/>
              </a:rPr>
              <a:t>✗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863840" y="5367528"/>
            <a:ext cx="10058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06080"/>
                </a:solidFill>
                <a:latin typeface="Calibri Light"/>
              </a:rPr>
              <a:t>✗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869680" y="5367528"/>
            <a:ext cx="12801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EA580C"/>
                </a:solidFill>
                <a:latin typeface="Calibri Light"/>
              </a:rPr>
              <a:t>◐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149840" y="5367528"/>
            <a:ext cx="13716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06080"/>
                </a:solidFill>
                <a:latin typeface="Calibri Light"/>
              </a:rPr>
              <a:t>✗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48640" y="5586984"/>
            <a:ext cx="10972800" cy="246888"/>
          </a:xfrm>
          <a:prstGeom prst="rect">
            <a:avLst/>
          </a:prstGeom>
          <a:solidFill>
            <a:srgbClr val="FFFFFF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0080" y="5623560"/>
            <a:ext cx="49377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D0D1A"/>
                </a:solidFill>
                <a:latin typeface="Calibri Light"/>
              </a:rPr>
              <a:t>Documentation parallèle + déploiement réel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577840" y="5614416"/>
            <a:ext cx="12801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6A34A"/>
                </a:solidFill>
                <a:latin typeface="Calibri Light"/>
              </a:rPr>
              <a:t>✓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58000" y="5614416"/>
            <a:ext cx="10058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06080"/>
                </a:solidFill>
                <a:latin typeface="Calibri Light"/>
              </a:rPr>
              <a:t>✗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63840" y="5614416"/>
            <a:ext cx="10058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06080"/>
                </a:solidFill>
                <a:latin typeface="Calibri Light"/>
              </a:rPr>
              <a:t>✗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869680" y="5614416"/>
            <a:ext cx="12801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06080"/>
                </a:solidFill>
                <a:latin typeface="Calibri Light"/>
              </a:rPr>
              <a:t>✗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149840" y="5614416"/>
            <a:ext cx="13716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06080"/>
                </a:solidFill>
                <a:latin typeface="Calibri Light"/>
              </a:rPr>
              <a:t>✗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48640" y="5833872"/>
            <a:ext cx="10972800" cy="228600"/>
          </a:xfrm>
          <a:prstGeom prst="rect">
            <a:avLst/>
          </a:prstGeom>
          <a:solidFill>
            <a:srgbClr val="EE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0080" y="5861304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200">
                <a:solidFill>
                  <a:srgbClr val="4E56EC"/>
                </a:solidFill>
                <a:latin typeface="Calibri Light"/>
              </a:rPr>
              <a:t>INFRA IA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48640" y="6062472"/>
            <a:ext cx="10972800" cy="246888"/>
          </a:xfrm>
          <a:prstGeom prst="rect">
            <a:avLst/>
          </a:prstGeom>
          <a:solidFill>
            <a:srgbClr val="FFFFFF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40080" y="6099048"/>
            <a:ext cx="49377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D0D1A"/>
                </a:solidFill>
                <a:latin typeface="Calibri Light"/>
              </a:rPr>
              <a:t>Workflow multi-agents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577840" y="6089904"/>
            <a:ext cx="12801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6A34A"/>
                </a:solidFill>
                <a:latin typeface="Calibri Light"/>
              </a:rPr>
              <a:t>✓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58000" y="6089904"/>
            <a:ext cx="10058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06080"/>
                </a:solidFill>
                <a:latin typeface="Calibri Light"/>
              </a:rPr>
              <a:t>✗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863840" y="6089904"/>
            <a:ext cx="10058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06080"/>
                </a:solidFill>
                <a:latin typeface="Calibri Light"/>
              </a:rPr>
              <a:t>✗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869680" y="6089904"/>
            <a:ext cx="12801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06080"/>
                </a:solidFill>
                <a:latin typeface="Calibri Light"/>
              </a:rPr>
              <a:t>✗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149840" y="6089904"/>
            <a:ext cx="13716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06080"/>
                </a:solidFill>
                <a:latin typeface="Calibri Light"/>
              </a:rPr>
              <a:t>✗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48640" y="6309360"/>
            <a:ext cx="10972800" cy="246888"/>
          </a:xfrm>
          <a:prstGeom prst="rect">
            <a:avLst/>
          </a:prstGeom>
          <a:solidFill>
            <a:srgbClr val="FFFFFF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40080" y="6345936"/>
            <a:ext cx="49377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D0D1A"/>
                </a:solidFill>
                <a:latin typeface="Calibri Light"/>
              </a:rPr>
              <a:t>LLM agnostic &amp; souverain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577840" y="6336792"/>
            <a:ext cx="12801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6A34A"/>
                </a:solidFill>
                <a:latin typeface="Calibri Light"/>
              </a:rPr>
              <a:t>✓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858000" y="6336792"/>
            <a:ext cx="10058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06080"/>
                </a:solidFill>
                <a:latin typeface="Calibri Light"/>
              </a:rPr>
              <a:t>✗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63840" y="6336792"/>
            <a:ext cx="10058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06080"/>
                </a:solidFill>
                <a:latin typeface="Calibri Light"/>
              </a:rPr>
              <a:t>✗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869680" y="6336792"/>
            <a:ext cx="12801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06080"/>
                </a:solidFill>
                <a:latin typeface="Calibri Light"/>
              </a:rPr>
              <a:t>✗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149840" y="6336792"/>
            <a:ext cx="13716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06080"/>
                </a:solidFill>
                <a:latin typeface="Calibri Light"/>
              </a:rPr>
              <a:t>✗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06080"/>
                </a:solidFill>
                <a:latin typeface="Calibri Light"/>
              </a:rPr>
              <a:t>SKAPA · AI Product Platform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06080"/>
                </a:solidFill>
                <a:latin typeface="Calibri Light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spc="300">
                <a:solidFill>
                  <a:srgbClr val="4E56EC"/>
                </a:solidFill>
                <a:latin typeface="Calibri"/>
              </a:rPr>
              <a:t>SKAPA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50">
                <a:solidFill>
                  <a:srgbClr val="606080"/>
                </a:solidFill>
                <a:latin typeface="Calibri Light"/>
              </a:rPr>
              <a:t>AI PRODUCT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50">
                <a:solidFill>
                  <a:srgbClr val="4E56EC"/>
                </a:solidFill>
                <a:latin typeface="Calibri Light"/>
              </a:rPr>
              <a:t>INTÉGRATIONS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0D0D1A"/>
                </a:solidFill>
                <a:latin typeface="Calibri"/>
              </a:rPr>
              <a:t>Votre stack. Déjà là.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06080"/>
                </a:solidFill>
                <a:latin typeface="Calibri Light"/>
              </a:rPr>
              <a:t>Build OS se connecte à vos outils existants dès le cadrage du pilote. Pas de migration, pas de friction — votre stack reste la vôtre.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91840"/>
            <a:ext cx="274320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01568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200">
                <a:solidFill>
                  <a:srgbClr val="4E56EC"/>
                </a:solidFill>
                <a:latin typeface="Calibri Light"/>
              </a:rPr>
              <a:t>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03320"/>
            <a:ext cx="24688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0D0D1A"/>
                </a:solidFill>
                <a:latin typeface="Calibri Light"/>
              </a:rPr>
              <a:t>·  Figma · Natif Dev Mode</a:t>
            </a:r>
          </a:p>
          <a:p>
            <a:pPr algn="l">
              <a:lnSpc>
                <a:spcPct val="135000"/>
              </a:lnSpc>
            </a:pPr>
            <a:r>
              <a:rPr sz="950" b="0">
                <a:solidFill>
                  <a:srgbClr val="0D0D1A"/>
                </a:solidFill>
                <a:latin typeface="Calibri Light"/>
              </a:rPr>
              <a:t>·  Storybook</a:t>
            </a:r>
          </a:p>
          <a:p>
            <a:pPr algn="l">
              <a:lnSpc>
                <a:spcPct val="135000"/>
              </a:lnSpc>
            </a:pPr>
            <a:r>
              <a:rPr sz="950" b="0">
                <a:solidFill>
                  <a:srgbClr val="0D0D1A"/>
                </a:solidFill>
                <a:latin typeface="Calibri Light"/>
              </a:rPr>
              <a:t>·  Design tokens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3291840"/>
            <a:ext cx="274320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3401568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200">
                <a:solidFill>
                  <a:srgbClr val="4E56EC"/>
                </a:solidFill>
                <a:latin typeface="Calibri Light"/>
              </a:rPr>
              <a:t>GESTION DE PROJET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3703320"/>
            <a:ext cx="24688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0D0D1A"/>
                </a:solidFill>
                <a:latin typeface="Calibri Light"/>
              </a:rPr>
              <a:t>·  Jira Cloud/Server · Natif bidirectionnel</a:t>
            </a:r>
          </a:p>
          <a:p>
            <a:pPr algn="l">
              <a:lnSpc>
                <a:spcPct val="135000"/>
              </a:lnSpc>
            </a:pPr>
            <a:r>
              <a:rPr sz="950" b="0">
                <a:solidFill>
                  <a:srgbClr val="0D0D1A"/>
                </a:solidFill>
                <a:latin typeface="Calibri Light"/>
              </a:rPr>
              <a:t>·  Linear</a:t>
            </a:r>
          </a:p>
          <a:p>
            <a:pPr algn="l">
              <a:lnSpc>
                <a:spcPct val="135000"/>
              </a:lnSpc>
            </a:pPr>
            <a:r>
              <a:rPr sz="950" b="0">
                <a:solidFill>
                  <a:srgbClr val="0D0D1A"/>
                </a:solidFill>
                <a:latin typeface="Calibri Light"/>
              </a:rPr>
              <a:t>·  Notion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3291840"/>
            <a:ext cx="274320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401568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200">
                <a:solidFill>
                  <a:srgbClr val="4E56EC"/>
                </a:solidFill>
                <a:latin typeface="Calibri Light"/>
              </a:rPr>
              <a:t>VERSIONING &amp; CI/CD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03320"/>
            <a:ext cx="24688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0D0D1A"/>
                </a:solidFill>
                <a:latin typeface="Calibri Light"/>
              </a:rPr>
              <a:t>·  GitHub</a:t>
            </a:r>
          </a:p>
          <a:p>
            <a:pPr algn="l">
              <a:lnSpc>
                <a:spcPct val="135000"/>
              </a:lnSpc>
            </a:pPr>
            <a:r>
              <a:rPr sz="950" b="0">
                <a:solidFill>
                  <a:srgbClr val="0D0D1A"/>
                </a:solidFill>
                <a:latin typeface="Calibri Light"/>
              </a:rPr>
              <a:t>·  GitLab</a:t>
            </a:r>
          </a:p>
          <a:p>
            <a:pPr algn="l">
              <a:lnSpc>
                <a:spcPct val="135000"/>
              </a:lnSpc>
            </a:pPr>
            <a:r>
              <a:rPr sz="950" b="0">
                <a:solidFill>
                  <a:srgbClr val="0D0D1A"/>
                </a:solidFill>
                <a:latin typeface="Calibri Light"/>
              </a:rPr>
              <a:t>·  Azure DevOps</a:t>
            </a:r>
          </a:p>
          <a:p>
            <a:pPr algn="l">
              <a:lnSpc>
                <a:spcPct val="135000"/>
              </a:lnSpc>
            </a:pPr>
            <a:r>
              <a:rPr sz="950" b="0">
                <a:solidFill>
                  <a:srgbClr val="0D0D1A"/>
                </a:solidFill>
                <a:latin typeface="Calibri Light"/>
              </a:rPr>
              <a:t>·  Bitbucket</a:t>
            </a:r>
          </a:p>
          <a:p>
            <a:pPr algn="l">
              <a:lnSpc>
                <a:spcPct val="135000"/>
              </a:lnSpc>
            </a:pPr>
            <a:r>
              <a:rPr sz="950" b="0">
                <a:solidFill>
                  <a:srgbClr val="0D0D1A"/>
                </a:solidFill>
                <a:latin typeface="Calibri Light"/>
              </a:rPr>
              <a:t>·  Sonar · ESLint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9720" y="3291840"/>
            <a:ext cx="274320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3401568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200">
                <a:solidFill>
                  <a:srgbClr val="4E56EC"/>
                </a:solidFill>
                <a:latin typeface="Calibri Light"/>
              </a:rPr>
              <a:t>FRAMEWORKS FRONT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3703320"/>
            <a:ext cx="24688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0D0D1A"/>
                </a:solidFill>
                <a:latin typeface="Calibri Light"/>
              </a:rPr>
              <a:t>·  React</a:t>
            </a:r>
          </a:p>
          <a:p>
            <a:pPr algn="l">
              <a:lnSpc>
                <a:spcPct val="135000"/>
              </a:lnSpc>
            </a:pPr>
            <a:r>
              <a:rPr sz="950" b="0">
                <a:solidFill>
                  <a:srgbClr val="0D0D1A"/>
                </a:solidFill>
                <a:latin typeface="Calibri Light"/>
              </a:rPr>
              <a:t>·  Angular</a:t>
            </a:r>
          </a:p>
          <a:p>
            <a:pPr algn="l">
              <a:lnSpc>
                <a:spcPct val="135000"/>
              </a:lnSpc>
            </a:pPr>
            <a:r>
              <a:rPr sz="950" b="0">
                <a:solidFill>
                  <a:srgbClr val="0D0D1A"/>
                </a:solidFill>
                <a:latin typeface="Calibri Light"/>
              </a:rPr>
              <a:t>·  Vue</a:t>
            </a:r>
          </a:p>
          <a:p>
            <a:pPr algn="l">
              <a:lnSpc>
                <a:spcPct val="135000"/>
              </a:lnSpc>
            </a:pPr>
            <a:r>
              <a:rPr sz="950" b="0">
                <a:solidFill>
                  <a:srgbClr val="0D0D1A"/>
                </a:solidFill>
                <a:latin typeface="Calibri Light"/>
              </a:rPr>
              <a:t>·  Next.js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846320"/>
            <a:ext cx="274320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956048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200">
                <a:solidFill>
                  <a:srgbClr val="4E56EC"/>
                </a:solidFill>
                <a:latin typeface="Calibri Light"/>
              </a:rPr>
              <a:t>BACK-END &amp; APIS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257800"/>
            <a:ext cx="24688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0D0D1A"/>
                </a:solidFill>
                <a:latin typeface="Calibri Light"/>
              </a:rPr>
              <a:t>·  Java · Spring</a:t>
            </a:r>
          </a:p>
          <a:p>
            <a:pPr algn="l">
              <a:lnSpc>
                <a:spcPct val="135000"/>
              </a:lnSpc>
            </a:pPr>
            <a:r>
              <a:rPr sz="950" b="0">
                <a:solidFill>
                  <a:srgbClr val="0D0D1A"/>
                </a:solidFill>
                <a:latin typeface="Calibri Light"/>
              </a:rPr>
              <a:t>·  .NET</a:t>
            </a:r>
          </a:p>
          <a:p>
            <a:pPr algn="l">
              <a:lnSpc>
                <a:spcPct val="135000"/>
              </a:lnSpc>
            </a:pPr>
            <a:r>
              <a:rPr sz="950" b="0">
                <a:solidFill>
                  <a:srgbClr val="0D0D1A"/>
                </a:solidFill>
                <a:latin typeface="Calibri Light"/>
              </a:rPr>
              <a:t>·  Python · FastAPI</a:t>
            </a:r>
          </a:p>
          <a:p>
            <a:pPr algn="l">
              <a:lnSpc>
                <a:spcPct val="135000"/>
              </a:lnSpc>
            </a:pPr>
            <a:r>
              <a:rPr sz="950" b="0">
                <a:solidFill>
                  <a:srgbClr val="0D0D1A"/>
                </a:solidFill>
                <a:latin typeface="Calibri Light"/>
              </a:rPr>
              <a:t>·  Node.js</a:t>
            </a:r>
          </a:p>
          <a:p>
            <a:pPr algn="l">
              <a:lnSpc>
                <a:spcPct val="135000"/>
              </a:lnSpc>
            </a:pPr>
            <a:r>
              <a:rPr sz="950" b="0">
                <a:solidFill>
                  <a:srgbClr val="0D0D1A"/>
                </a:solidFill>
                <a:latin typeface="Calibri Light"/>
              </a:rPr>
              <a:t>·  REST · GraphQL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29000" y="4846320"/>
            <a:ext cx="274320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11880" y="4956048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200">
                <a:solidFill>
                  <a:srgbClr val="4E56EC"/>
                </a:solidFill>
                <a:latin typeface="Calibri Light"/>
              </a:rPr>
              <a:t>BASES DE DONNÉES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5257800"/>
            <a:ext cx="24688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0D0D1A"/>
                </a:solidFill>
                <a:latin typeface="Calibri Light"/>
              </a:rPr>
              <a:t>·  PostgreSQL</a:t>
            </a:r>
          </a:p>
          <a:p>
            <a:pPr algn="l">
              <a:lnSpc>
                <a:spcPct val="135000"/>
              </a:lnSpc>
            </a:pPr>
            <a:r>
              <a:rPr sz="950" b="0">
                <a:solidFill>
                  <a:srgbClr val="0D0D1A"/>
                </a:solidFill>
                <a:latin typeface="Calibri Light"/>
              </a:rPr>
              <a:t>·  SQL Server</a:t>
            </a:r>
          </a:p>
          <a:p>
            <a:pPr algn="l">
              <a:lnSpc>
                <a:spcPct val="135000"/>
              </a:lnSpc>
            </a:pPr>
            <a:r>
              <a:rPr sz="950" b="0">
                <a:solidFill>
                  <a:srgbClr val="0D0D1A"/>
                </a:solidFill>
                <a:latin typeface="Calibri Light"/>
              </a:rPr>
              <a:t>·  Oracle</a:t>
            </a:r>
          </a:p>
          <a:p>
            <a:pPr algn="l">
              <a:lnSpc>
                <a:spcPct val="135000"/>
              </a:lnSpc>
            </a:pPr>
            <a:r>
              <a:rPr sz="950" b="0">
                <a:solidFill>
                  <a:srgbClr val="0D0D1A"/>
                </a:solidFill>
                <a:latin typeface="Calibri Light"/>
              </a:rPr>
              <a:t>·  MongoDB</a:t>
            </a:r>
          </a:p>
          <a:p>
            <a:pPr algn="l">
              <a:lnSpc>
                <a:spcPct val="135000"/>
              </a:lnSpc>
            </a:pPr>
            <a:r>
              <a:rPr sz="950" b="0">
                <a:solidFill>
                  <a:srgbClr val="0D0D1A"/>
                </a:solidFill>
                <a:latin typeface="Calibri Light"/>
              </a:rPr>
              <a:t>·  MySQL · MariaDB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846320"/>
            <a:ext cx="274320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956048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200">
                <a:solidFill>
                  <a:srgbClr val="4E56EC"/>
                </a:solidFill>
                <a:latin typeface="Calibri Light"/>
              </a:rPr>
              <a:t>DÉPLOIEMENT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257800"/>
            <a:ext cx="24688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0D0D1A"/>
                </a:solidFill>
                <a:latin typeface="Calibri Light"/>
              </a:rPr>
              <a:t>·  Docker · K8s</a:t>
            </a:r>
          </a:p>
          <a:p>
            <a:pPr algn="l">
              <a:lnSpc>
                <a:spcPct val="135000"/>
              </a:lnSpc>
            </a:pPr>
            <a:r>
              <a:rPr sz="950" b="0">
                <a:solidFill>
                  <a:srgbClr val="0D0D1A"/>
                </a:solidFill>
                <a:latin typeface="Calibri Light"/>
              </a:rPr>
              <a:t>·  OpenShift</a:t>
            </a:r>
          </a:p>
          <a:p>
            <a:pPr algn="l">
              <a:lnSpc>
                <a:spcPct val="135000"/>
              </a:lnSpc>
            </a:pPr>
            <a:r>
              <a:rPr sz="950" b="0">
                <a:solidFill>
                  <a:srgbClr val="0D0D1A"/>
                </a:solidFill>
                <a:latin typeface="Calibri Light"/>
              </a:rPr>
              <a:t>·  AWS · Azure · GCP</a:t>
            </a:r>
          </a:p>
          <a:p>
            <a:pPr algn="l">
              <a:lnSpc>
                <a:spcPct val="135000"/>
              </a:lnSpc>
            </a:pPr>
            <a:r>
              <a:rPr sz="950" b="0">
                <a:solidFill>
                  <a:srgbClr val="0D0D1A"/>
                </a:solidFill>
                <a:latin typeface="Calibri Light"/>
              </a:rPr>
              <a:t>·  Cloud souverain EU</a:t>
            </a:r>
          </a:p>
          <a:p>
            <a:pPr algn="l">
              <a:lnSpc>
                <a:spcPct val="135000"/>
              </a:lnSpc>
            </a:pPr>
            <a:r>
              <a:rPr sz="950" b="0">
                <a:solidFill>
                  <a:srgbClr val="0D0D1A"/>
                </a:solidFill>
                <a:latin typeface="Calibri Light"/>
              </a:rPr>
              <a:t>·  On-premise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89720" y="4846320"/>
            <a:ext cx="274320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72600" y="4956048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200">
                <a:solidFill>
                  <a:srgbClr val="4E56EC"/>
                </a:solidFill>
                <a:latin typeface="Calibri Light"/>
              </a:rPr>
              <a:t>SÉCURITÉ &amp; ACCÈS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600" y="5257800"/>
            <a:ext cx="24688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0D0D1A"/>
                </a:solidFill>
                <a:latin typeface="Calibri Light"/>
              </a:rPr>
              <a:t>·  SSO · SAML · OIDC</a:t>
            </a:r>
          </a:p>
          <a:p>
            <a:pPr algn="l">
              <a:lnSpc>
                <a:spcPct val="135000"/>
              </a:lnSpc>
            </a:pPr>
            <a:r>
              <a:rPr sz="950" b="0">
                <a:solidFill>
                  <a:srgbClr val="0D0D1A"/>
                </a:solidFill>
                <a:latin typeface="Calibri Light"/>
              </a:rPr>
              <a:t>·  MFA</a:t>
            </a:r>
          </a:p>
          <a:p>
            <a:pPr algn="l">
              <a:lnSpc>
                <a:spcPct val="135000"/>
              </a:lnSpc>
            </a:pPr>
            <a:r>
              <a:rPr sz="950" b="0">
                <a:solidFill>
                  <a:srgbClr val="0D0D1A"/>
                </a:solidFill>
                <a:latin typeface="Calibri Light"/>
              </a:rPr>
              <a:t>·  Vault</a:t>
            </a:r>
          </a:p>
          <a:p>
            <a:pPr algn="l">
              <a:lnSpc>
                <a:spcPct val="135000"/>
              </a:lnSpc>
            </a:pPr>
            <a:r>
              <a:rPr sz="950" b="0">
                <a:solidFill>
                  <a:srgbClr val="0D0D1A"/>
                </a:solidFill>
                <a:latin typeface="Calibri Light"/>
              </a:rPr>
              <a:t>·  OWASP · SAST/DAST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06080"/>
                </a:solidFill>
                <a:latin typeface="Calibri Light"/>
              </a:rPr>
              <a:t>SKAPA · AI Product Platform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06080"/>
                </a:solidFill>
                <a:latin typeface="Calibri Light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spc="300">
                <a:solidFill>
                  <a:srgbClr val="4E56EC"/>
                </a:solidFill>
                <a:latin typeface="Calibri"/>
              </a:rPr>
              <a:t>SKAPA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50">
                <a:solidFill>
                  <a:srgbClr val="606080"/>
                </a:solidFill>
                <a:latin typeface="Calibri Light"/>
              </a:rPr>
              <a:t>AI PRODUCT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50">
                <a:solidFill>
                  <a:srgbClr val="4E56EC"/>
                </a:solidFill>
                <a:latin typeface="Calibri Light"/>
              </a:rPr>
              <a:t>ACCOMPAGNEMENT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D0D1A"/>
                </a:solidFill>
                <a:latin typeface="Calibri"/>
              </a:rPr>
              <a:t>Un cadrage sur mesure</a:t>
            </a:r>
          </a:p>
          <a:p>
            <a:pPr algn="l">
              <a:lnSpc>
                <a:spcPct val="105000"/>
              </a:lnSpc>
            </a:pPr>
            <a:r>
              <a:rPr sz="3000" b="1">
                <a:solidFill>
                  <a:srgbClr val="0D0D1A"/>
                </a:solidFill>
                <a:latin typeface="Calibri"/>
              </a:rPr>
              <a:t>pour chaque organisation.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83280"/>
            <a:ext cx="50292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606080"/>
                </a:solidFill>
                <a:latin typeface="Calibri Light"/>
              </a:rPr>
              <a:t>Chaque pilote commence par un atelier de cadrage —</a:t>
            </a: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606080"/>
                </a:solidFill>
                <a:latin typeface="Calibri Light"/>
              </a:rPr>
              <a:t>pour que le code généré ressemble à votre production,</a:t>
            </a: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606080"/>
                </a:solidFill>
                <a:latin typeface="Calibri Light"/>
              </a:rPr>
              <a:t>pas à un prototype générique.</a:t>
            </a: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606080"/>
                </a:solidFill>
                <a:latin typeface="Calibri Light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606080"/>
                </a:solidFill>
                <a:latin typeface="Calibri Light"/>
              </a:rPr>
              <a:t>Nous identifions ensemble votre stack, vos contraintes</a:t>
            </a: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606080"/>
                </a:solidFill>
                <a:latin typeface="Calibri Light"/>
              </a:rPr>
              <a:t>et vos points bloquants avant de démarrer.</a:t>
            </a: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606080"/>
                </a:solidFill>
                <a:latin typeface="Calibri Light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606080"/>
                </a:solidFill>
                <a:latin typeface="Calibri Light"/>
              </a:rPr>
              <a:t>Un document de synthèse SKAPA sert de base</a:t>
            </a: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606080"/>
                </a:solidFill>
                <a:latin typeface="Calibri Light"/>
              </a:rPr>
              <a:t>contractuelle au kick-off.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2926080"/>
            <a:ext cx="56692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3063240"/>
            <a:ext cx="548640" cy="548640"/>
          </a:xfrm>
          <a:prstGeom prst="rect">
            <a:avLst/>
          </a:prstGeom>
          <a:solidFill>
            <a:srgbClr val="EEEEF8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31546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4E56EC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044952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D0D1A"/>
                </a:solidFill>
                <a:latin typeface="Calibri"/>
              </a:rPr>
              <a:t>Atelier de cadrage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36499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06080"/>
                </a:solidFill>
                <a:latin typeface="Calibri Light"/>
              </a:rPr>
              <a:t>45 à 90 min · Métier + DSI · Stack, contraintes, succès.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3822192"/>
            <a:ext cx="56692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3959352"/>
            <a:ext cx="548640" cy="548640"/>
          </a:xfrm>
          <a:prstGeom prst="rect">
            <a:avLst/>
          </a:prstGeom>
          <a:solidFill>
            <a:srgbClr val="EEEEF8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405079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4E56EC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941064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D0D1A"/>
                </a:solidFill>
                <a:latin typeface="Calibri"/>
              </a:rPr>
              <a:t>Identification des points bloquants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261104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06080"/>
                </a:solidFill>
                <a:latin typeface="Calibri Light"/>
              </a:rPr>
              <a:t>Réseau, Figma, données, RGPD — DSI, RSSI, DPO.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4718304"/>
            <a:ext cx="56692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4855464"/>
            <a:ext cx="548640" cy="548640"/>
          </a:xfrm>
          <a:prstGeom prst="rect">
            <a:avLst/>
          </a:prstGeom>
          <a:solidFill>
            <a:srgbClr val="EEEEF8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4946904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4E56EC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837176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D0D1A"/>
                </a:solidFill>
                <a:latin typeface="Calibri"/>
              </a:rPr>
              <a:t>Prérequis validés &amp; accord cadre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5157216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06080"/>
                </a:solidFill>
                <a:latin typeface="Calibri Light"/>
              </a:rPr>
              <a:t>Document de synthèse SKAPA · base contractuelle.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5614416"/>
            <a:ext cx="5669280" cy="822960"/>
          </a:xfrm>
          <a:prstGeom prst="rect">
            <a:avLst/>
          </a:prstGeom>
          <a:solidFill>
            <a:srgbClr val="EEF0FD"/>
          </a:solidFill>
          <a:ln>
            <a:solidFill>
              <a:srgbClr val="4E5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5751576"/>
            <a:ext cx="548640" cy="548640"/>
          </a:xfrm>
          <a:prstGeom prst="rect">
            <a:avLst/>
          </a:prstGeom>
          <a:solidFill>
            <a:srgbClr val="4E56EC"/>
          </a:solidFill>
          <a:ln>
            <a:solidFill>
              <a:srgbClr val="4E5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5843016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5733288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D0D1A"/>
                </a:solidFill>
                <a:latin typeface="Calibri"/>
              </a:rPr>
              <a:t>Kick-off du pilote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605332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06080"/>
                </a:solidFill>
                <a:latin typeface="Calibri Light"/>
              </a:rPr>
              <a:t>Build OS configuré sur votre contexte. Dès J1.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06080"/>
                </a:solidFill>
                <a:latin typeface="Calibri Light"/>
              </a:rPr>
              <a:t>SKAPA · AI Product Platform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06080"/>
                </a:solidFill>
                <a:latin typeface="Calibri Light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spc="300">
                <a:solidFill>
                  <a:srgbClr val="4E56EC"/>
                </a:solidFill>
                <a:latin typeface="Calibri"/>
              </a:rPr>
              <a:t>SKAPA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50">
                <a:solidFill>
                  <a:srgbClr val="606080"/>
                </a:solidFill>
                <a:latin typeface="Calibri Light"/>
              </a:rPr>
              <a:t>AI PRODUCT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EE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 spc="200">
                <a:solidFill>
                  <a:srgbClr val="4E56EC"/>
                </a:solidFill>
                <a:latin typeface="Calibri Light"/>
              </a:rPr>
              <a:t>MODULE 02 · BETA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300">
                <a:solidFill>
                  <a:srgbClr val="A0A6F8"/>
                </a:solidFill>
                <a:latin typeface="Calibri Light"/>
              </a:rPr>
              <a:t>COMPRENDRE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0D0D1A"/>
                </a:solidFill>
                <a:latin typeface="Calibri"/>
              </a:rPr>
              <a:t>Project OS — communiquez</a:t>
            </a:r>
          </a:p>
          <a:p>
            <a:pPr algn="l">
              <a:lnSpc>
                <a:spcPct val="105000"/>
              </a:lnSpc>
            </a:pPr>
            <a:r>
              <a:rPr sz="3800" b="1">
                <a:solidFill>
                  <a:srgbClr val="0D0D1A"/>
                </a:solidFill>
                <a:latin typeface="Calibri"/>
              </a:rPr>
              <a:t>avec votre produit.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606080"/>
                </a:solidFill>
                <a:latin typeface="Calibri Light"/>
              </a:rPr>
              <a:t>Interrogez votre produit comme un expert qui le connaît parfaitement — ses choix, son</a:t>
            </a:r>
          </a:p>
          <a:p>
            <a:pPr algn="l">
              <a:lnSpc>
                <a:spcPct val="155000"/>
              </a:lnSpc>
            </a:pPr>
            <a:r>
              <a:rPr sz="1400" b="0">
                <a:solidFill>
                  <a:srgbClr val="606080"/>
                </a:solidFill>
                <a:latin typeface="Calibri Light"/>
              </a:rPr>
              <a:t>historique, ses fonctionnalités. Coordonnez vos équipes autour d'un contexte produit unique.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2120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0D0D1A"/>
                </a:solidFill>
                <a:latin typeface="Calibri Light"/>
              </a:rPr>
              <a:t>→  Interrogation produit en langage naturel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4864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0D0D1A"/>
                </a:solidFill>
                <a:latin typeface="Calibri Light"/>
              </a:rPr>
              <a:t>→  Compréhension des choix de design et d'architecture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7607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0D0D1A"/>
                </a:solidFill>
                <a:latin typeface="Calibri Light"/>
              </a:rPr>
              <a:t>→  Historique des décisions produit accessible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035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0D0D1A"/>
                </a:solidFill>
                <a:latin typeface="Calibri Light"/>
              </a:rPr>
              <a:t>→  Coordination des équipes autour du contexte produit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06080"/>
                </a:solidFill>
                <a:latin typeface="Calibri Light"/>
              </a:rPr>
              <a:t>SKAPA · AI Product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06080"/>
                </a:solidFill>
                <a:latin typeface="Calibri Light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spc="300">
                <a:solidFill>
                  <a:srgbClr val="4E56EC"/>
                </a:solidFill>
                <a:latin typeface="Calibri"/>
              </a:rPr>
              <a:t>SKAPA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50">
                <a:solidFill>
                  <a:srgbClr val="606080"/>
                </a:solidFill>
                <a:latin typeface="Calibri Light"/>
              </a:rPr>
              <a:t>AI PRODUCT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EE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 spc="200">
                <a:solidFill>
                  <a:srgbClr val="4E56EC"/>
                </a:solidFill>
                <a:latin typeface="Calibri Light"/>
              </a:rPr>
              <a:t>MODULE 03 · BETA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300">
                <a:solidFill>
                  <a:srgbClr val="6C72E0"/>
                </a:solidFill>
                <a:latin typeface="Calibri Light"/>
              </a:rPr>
              <a:t>AUDITER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0D0D1A"/>
                </a:solidFill>
                <a:latin typeface="Calibri"/>
              </a:rPr>
              <a:t>Health Care Product —</a:t>
            </a:r>
          </a:p>
          <a:p>
            <a:pPr algn="l">
              <a:lnSpc>
                <a:spcPct val="105000"/>
              </a:lnSpc>
            </a:pPr>
            <a:r>
              <a:rPr sz="3400" b="1">
                <a:solidFill>
                  <a:srgbClr val="6C72E0"/>
                </a:solidFill>
                <a:latin typeface="Calibri"/>
              </a:rPr>
              <a:t>la qualité, mesurée en continu.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606080"/>
                </a:solidFill>
                <a:latin typeface="Calibri Light"/>
              </a:rPr>
              <a:t>Mesurez et améliorez la qualité de votre produit en continu — UX, accessibilité et</a:t>
            </a:r>
          </a:p>
          <a:p>
            <a:pPr algn="l">
              <a:lnSpc>
                <a:spcPct val="155000"/>
              </a:lnSpc>
            </a:pPr>
            <a:r>
              <a:rPr sz="1400" b="0">
                <a:solidFill>
                  <a:srgbClr val="606080"/>
                </a:solidFill>
                <a:latin typeface="Calibri Light"/>
              </a:rPr>
              <a:t>éco-conception analysées automatiquement à chaque release.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120640"/>
            <a:ext cx="2697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30352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6C72E0"/>
                </a:solidFill>
                <a:latin typeface="Calibri"/>
              </a:rPr>
              <a:t>UX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71500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06080"/>
                </a:solidFill>
                <a:latin typeface="Calibri Light"/>
              </a:rPr>
              <a:t>Audit UX automatisé à chaque release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5120640"/>
            <a:ext cx="2697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530352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6C72E0"/>
                </a:solidFill>
                <a:latin typeface="Calibri"/>
              </a:rPr>
              <a:t>Accessibilité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571500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06080"/>
                </a:solidFill>
                <a:latin typeface="Calibri Light"/>
              </a:rPr>
              <a:t>Conformité RGAA / WCAG AA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5120640"/>
            <a:ext cx="2697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530352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6C72E0"/>
                </a:solidFill>
                <a:latin typeface="Calibri"/>
              </a:rPr>
              <a:t>Éco-conception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571500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06080"/>
                </a:solidFill>
                <a:latin typeface="Calibri Light"/>
              </a:rPr>
              <a:t>Empreinte numérique mesurée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5120640"/>
            <a:ext cx="2697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530352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6C72E0"/>
                </a:solidFill>
                <a:latin typeface="Calibri"/>
              </a:rPr>
              <a:t>Reco 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571500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06080"/>
                </a:solidFill>
                <a:latin typeface="Calibri Light"/>
              </a:rPr>
              <a:t>Recommandations actionnables générées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06080"/>
                </a:solidFill>
                <a:latin typeface="Calibri Light"/>
              </a:rPr>
              <a:t>SKAPA · AI Product 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06080"/>
                </a:solidFill>
                <a:latin typeface="Calibri Light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spc="300">
                <a:solidFill>
                  <a:srgbClr val="4E56EC"/>
                </a:solidFill>
                <a:latin typeface="Calibri"/>
              </a:rPr>
              <a:t>SKAPA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50">
                <a:solidFill>
                  <a:srgbClr val="606080"/>
                </a:solidFill>
                <a:latin typeface="Calibri Light"/>
              </a:rPr>
              <a:t>AI PRODUCT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 spc="200">
                <a:solidFill>
                  <a:srgbClr val="EA580C"/>
                </a:solidFill>
                <a:latin typeface="Calibri Light"/>
              </a:rPr>
              <a:t>MODULE 04 · EN DÉVELOPPEMENT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300">
                <a:solidFill>
                  <a:srgbClr val="EA580C"/>
                </a:solidFill>
                <a:latin typeface="Calibri Light"/>
              </a:rPr>
              <a:t>APPRENDRE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68580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0D0D1A"/>
                </a:solidFill>
                <a:latin typeface="Calibri"/>
              </a:rPr>
              <a:t>Personae OS —</a:t>
            </a:r>
          </a:p>
          <a:p>
            <a:pPr algn="l">
              <a:lnSpc>
                <a:spcPct val="105000"/>
              </a:lnSpc>
            </a:pPr>
            <a:r>
              <a:rPr sz="2800" b="1">
                <a:solidFill>
                  <a:srgbClr val="EA580C"/>
                </a:solidFill>
                <a:latin typeface="Calibri"/>
              </a:rPr>
              <a:t>feedback → backlog → release.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68580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606080"/>
                </a:solidFill>
                <a:latin typeface="Calibri Light"/>
              </a:rPr>
              <a:t>Transformez les retours utilisateurs en personas dynamiques</a:t>
            </a:r>
          </a:p>
          <a:p>
            <a:pPr algn="l">
              <a:lnSpc>
                <a:spcPct val="155000"/>
              </a:lnSpc>
            </a:pPr>
            <a:r>
              <a:rPr sz="1300" b="0">
                <a:solidFill>
                  <a:srgbClr val="606080"/>
                </a:solidFill>
                <a:latin typeface="Calibri Light"/>
              </a:rPr>
              <a:t>et en items de release planning — directement connecté à Atlassian.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029200"/>
            <a:ext cx="68580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D0D1A"/>
                </a:solidFill>
                <a:latin typeface="Calibri Light"/>
              </a:rPr>
              <a:t>→  Collecte et analyse des retours utilisateurs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276088"/>
            <a:ext cx="68580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D0D1A"/>
                </a:solidFill>
                <a:latin typeface="Calibri Light"/>
              </a:rPr>
              <a:t>→  Personas dynamiques mis à jour en continu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522976"/>
            <a:ext cx="68580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D0D1A"/>
                </a:solidFill>
                <a:latin typeface="Calibri Light"/>
              </a:rPr>
              <a:t>→  Priorisation automatique des évolutions produit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769864"/>
            <a:ext cx="68580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D0D1A"/>
                </a:solidFill>
                <a:latin typeface="Calibri Light"/>
              </a:rPr>
              <a:t>→  Intégration Atlassian — release planning alimenté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016752"/>
            <a:ext cx="68580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D0D1A"/>
                </a:solidFill>
                <a:latin typeface="Calibri Light"/>
              </a:rPr>
              <a:t>→  Boucle feedback → backlog → release fermée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2286000"/>
            <a:ext cx="3840480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246888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D0D1A"/>
                </a:solidFill>
                <a:latin typeface="Calibri"/>
              </a:rPr>
              <a:t>📋  Release Planning — Atlassian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3063240"/>
            <a:ext cx="3474720" cy="566928"/>
          </a:xfrm>
          <a:prstGeom prst="roundRect">
            <a:avLst>
              <a:gd name="adj" fmla="val 15000"/>
            </a:avLst>
          </a:prstGeom>
          <a:solidFill>
            <a:srgbClr val="EEEEF8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83880" y="3273552"/>
            <a:ext cx="137160" cy="137160"/>
          </a:xfrm>
          <a:prstGeom prst="ellipse">
            <a:avLst/>
          </a:prstGeom>
          <a:solidFill>
            <a:srgbClr val="4E5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317296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D0D1A"/>
                </a:solidFill>
                <a:latin typeface="Calibri Light"/>
              </a:rPr>
              <a:t>Simplifier formulaire — 47 retours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378440" y="320040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EE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 spc="200">
                <a:solidFill>
                  <a:srgbClr val="4E56EC"/>
                </a:solidFill>
                <a:latin typeface="Calibri Light"/>
              </a:rPr>
              <a:t>IA · P1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3776472"/>
            <a:ext cx="3474720" cy="566928"/>
          </a:xfrm>
          <a:prstGeom prst="roundRect">
            <a:avLst>
              <a:gd name="adj" fmla="val 15000"/>
            </a:avLst>
          </a:prstGeom>
          <a:solidFill>
            <a:srgbClr val="EEEEF8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83880" y="3986784"/>
            <a:ext cx="137160" cy="13716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38862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D0D1A"/>
                </a:solidFill>
                <a:latin typeface="Calibri Light"/>
              </a:rPr>
              <a:t>Export PDF — demande fréquente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78440" y="391363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E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 spc="200">
                <a:solidFill>
                  <a:srgbClr val="16A34A"/>
                </a:solidFill>
                <a:latin typeface="Calibri Light"/>
              </a:rPr>
              <a:t>Users · P2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4489704"/>
            <a:ext cx="3474720" cy="566928"/>
          </a:xfrm>
          <a:prstGeom prst="roundRect">
            <a:avLst>
              <a:gd name="adj" fmla="val 15000"/>
            </a:avLst>
          </a:prstGeom>
          <a:solidFill>
            <a:srgbClr val="EEEEF8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183880" y="4700016"/>
            <a:ext cx="137160" cy="137160"/>
          </a:xfrm>
          <a:prstGeom prst="ellipse">
            <a:avLst/>
          </a:prstGeom>
          <a:solidFill>
            <a:srgbClr val="6C7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459943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D0D1A"/>
                </a:solidFill>
                <a:latin typeface="Calibri Light"/>
              </a:rPr>
              <a:t>Dashboard mobile — Agent terrain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378440" y="4626864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EE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 spc="200">
                <a:solidFill>
                  <a:srgbClr val="6C72E0"/>
                </a:solidFill>
                <a:latin typeface="Calibri Light"/>
              </a:rPr>
              <a:t>Planifié · P3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5202936"/>
            <a:ext cx="3474720" cy="566928"/>
          </a:xfrm>
          <a:prstGeom prst="roundRect">
            <a:avLst>
              <a:gd name="adj" fmla="val 15000"/>
            </a:avLst>
          </a:prstGeom>
          <a:solidFill>
            <a:srgbClr val="EEEEF8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183880" y="5413248"/>
            <a:ext cx="137160" cy="137160"/>
          </a:xfrm>
          <a:prstGeom prst="ellipse">
            <a:avLst/>
          </a:prstGeom>
          <a:solidFill>
            <a:srgbClr val="606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531266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D0D1A"/>
                </a:solidFill>
                <a:latin typeface="Calibri Light"/>
              </a:rPr>
              <a:t>Intégration SSO — attente IT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378440" y="5340096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EE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 spc="200">
                <a:solidFill>
                  <a:srgbClr val="606080"/>
                </a:solidFill>
                <a:latin typeface="Calibri Light"/>
              </a:rPr>
              <a:t>Backlog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06080"/>
                </a:solidFill>
                <a:latin typeface="Calibri Light"/>
              </a:rPr>
              <a:t>SKAPA · AI Product Platform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06080"/>
                </a:solidFill>
                <a:latin typeface="Calibri Light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spc="300">
                <a:solidFill>
                  <a:srgbClr val="4E56EC"/>
                </a:solidFill>
                <a:latin typeface="Calibri"/>
              </a:rPr>
              <a:t>SKAPA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50">
                <a:solidFill>
                  <a:srgbClr val="606080"/>
                </a:solidFill>
                <a:latin typeface="Calibri Light"/>
              </a:rPr>
              <a:t>AI PRODUCT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50">
                <a:solidFill>
                  <a:srgbClr val="4E56EC"/>
                </a:solidFill>
                <a:latin typeface="Calibri Light"/>
              </a:rPr>
              <a:t>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0D0D1A"/>
                </a:solidFill>
                <a:latin typeface="Calibri"/>
              </a:rPr>
              <a:t>Ce qui arrive.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108960"/>
            <a:ext cx="1554480" cy="777240"/>
          </a:xfrm>
          <a:prstGeom prst="rect">
            <a:avLst/>
          </a:prstGeom>
          <a:solidFill>
            <a:srgbClr val="4E5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200">
                <a:solidFill>
                  <a:srgbClr val="FFFFFF"/>
                </a:solidFill>
                <a:latin typeface="Calibri Light"/>
              </a:rPr>
              <a:t>AUJOURD'HUI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3108960"/>
            <a:ext cx="9509760" cy="777240"/>
          </a:xfrm>
          <a:prstGeom prst="rect">
            <a:avLst/>
          </a:prstGeom>
          <a:solidFill>
            <a:srgbClr val="FFFFFF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322783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D0D1A"/>
                </a:solidFill>
                <a:latin typeface="Calibri"/>
              </a:rPr>
              <a:t>Build OS · Project OS · Health Care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52044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06080"/>
                </a:solidFill>
                <a:latin typeface="Calibri Light"/>
              </a:rPr>
              <a:t>Les 3 premiers modules disponibles en Beta — opérationnels de manière indépendante.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41280" y="336499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E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 spc="200">
                <a:solidFill>
                  <a:srgbClr val="16A34A"/>
                </a:solidFill>
                <a:latin typeface="Calibri Light"/>
              </a:rPr>
              <a:t>Beta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95928"/>
            <a:ext cx="1554480" cy="777240"/>
          </a:xfrm>
          <a:prstGeom prst="rect">
            <a:avLst/>
          </a:prstGeom>
          <a:solidFill>
            <a:srgbClr val="4E5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27024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200">
                <a:solidFill>
                  <a:srgbClr val="FFFFFF"/>
                </a:solidFill>
                <a:latin typeface="Calibri Light"/>
              </a:rPr>
              <a:t>EN COURS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3120" y="3995928"/>
            <a:ext cx="9509760" cy="777240"/>
          </a:xfrm>
          <a:prstGeom prst="rect">
            <a:avLst/>
          </a:prstGeom>
          <a:solidFill>
            <a:srgbClr val="FFFFFF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0" y="41148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D0D1A"/>
                </a:solidFill>
                <a:latin typeface="Calibri"/>
              </a:rPr>
              <a:t>Personae 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407408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06080"/>
                </a:solidFill>
                <a:latin typeface="Calibri Light"/>
              </a:rPr>
              <a:t>Retours utilisateurs, personas dynamiques et intégration Atlassian release planning.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41280" y="425196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E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 spc="200">
                <a:solidFill>
                  <a:srgbClr val="EA580C"/>
                </a:solidFill>
                <a:latin typeface="Calibri Light"/>
              </a:rPr>
              <a:t>En développement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882896"/>
            <a:ext cx="1554480" cy="777240"/>
          </a:xfrm>
          <a:prstGeom prst="rect">
            <a:avLst/>
          </a:prstGeom>
          <a:solidFill>
            <a:srgbClr val="13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157216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200">
                <a:solidFill>
                  <a:srgbClr val="FFFFFF"/>
                </a:solidFill>
                <a:latin typeface="Calibri Light"/>
              </a:rPr>
              <a:t>PHASE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03120" y="4882896"/>
            <a:ext cx="9509760" cy="777240"/>
          </a:xfrm>
          <a:prstGeom prst="rect">
            <a:avLst/>
          </a:prstGeom>
          <a:solidFill>
            <a:srgbClr val="FFFFFF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0" y="500176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D0D1A"/>
                </a:solidFill>
                <a:latin typeface="Calibri"/>
              </a:rPr>
              <a:t>Connexion des modules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5294376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06080"/>
                </a:solidFill>
                <a:latin typeface="Calibri Light"/>
              </a:rPr>
              <a:t>Les 4 modules interconnectés — partage de contexte, mémoire produit commune.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41280" y="5138928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EE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 spc="200">
                <a:solidFill>
                  <a:srgbClr val="4E56EC"/>
                </a:solidFill>
                <a:latin typeface="Calibri Light"/>
              </a:rPr>
              <a:t>Roadmap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769864"/>
            <a:ext cx="1554480" cy="777240"/>
          </a:xfrm>
          <a:prstGeom prst="rect">
            <a:avLst/>
          </a:prstGeom>
          <a:solidFill>
            <a:srgbClr val="13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044184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200">
                <a:solidFill>
                  <a:srgbClr val="FFFFFF"/>
                </a:solidFill>
                <a:latin typeface="Calibri Light"/>
              </a:rPr>
              <a:t>PHASE 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03120" y="5769864"/>
            <a:ext cx="9509760" cy="777240"/>
          </a:xfrm>
          <a:prstGeom prst="rect">
            <a:avLst/>
          </a:prstGeom>
          <a:solidFill>
            <a:srgbClr val="FFFFFF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86000" y="588873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D0D1A"/>
                </a:solidFill>
                <a:latin typeface="Calibri"/>
              </a:rPr>
              <a:t>Mémoire produit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6181344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06080"/>
                </a:solidFill>
                <a:latin typeface="Calibri Light"/>
              </a:rPr>
              <a:t>Contexte persistant et partagé entre tous les modules — historique, versions.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41280" y="6025896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EE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 spc="200">
                <a:solidFill>
                  <a:srgbClr val="4E56EC"/>
                </a:solidFill>
                <a:latin typeface="Calibri Light"/>
              </a:rPr>
              <a:t>Roadmap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06080"/>
                </a:solidFill>
                <a:latin typeface="Calibri Light"/>
              </a:rPr>
              <a:t>SKAPA · AI Product Platform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06080"/>
                </a:solidFill>
                <a:latin typeface="Calibri Light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spc="300">
                <a:solidFill>
                  <a:srgbClr val="4E56EC"/>
                </a:solidFill>
                <a:latin typeface="Calibri"/>
              </a:rPr>
              <a:t>SKAPA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50">
                <a:solidFill>
                  <a:srgbClr val="606080"/>
                </a:solidFill>
                <a:latin typeface="Calibri Light"/>
              </a:rPr>
              <a:t>AI PRODUCT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50">
                <a:solidFill>
                  <a:srgbClr val="4E56EC"/>
                </a:solidFill>
                <a:latin typeface="Calibri Light"/>
              </a:rPr>
              <a:t>FORMATS D'ACCÈS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0D0D1A"/>
                </a:solidFill>
                <a:latin typeface="Calibri"/>
              </a:rPr>
              <a:t>Trois façons de déployer la plateforme.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108960"/>
            <a:ext cx="370332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38328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50">
                <a:solidFill>
                  <a:srgbClr val="4E56EC"/>
                </a:solidFill>
                <a:latin typeface="Calibri Light"/>
              </a:rPr>
              <a:t>FORMAT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D0D1A"/>
                </a:solidFill>
                <a:latin typeface="Calibri"/>
              </a:rPr>
              <a:t>Meilleurs modèles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51960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606080"/>
                </a:solidFill>
                <a:latin typeface="Calibri Light"/>
              </a:rPr>
              <a:t>La plateforme avec les meilleurs modèles du marché — veille continue, performances optimales.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30352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D0D1A"/>
                </a:solidFill>
                <a:latin typeface="Calibri Light"/>
              </a:rPr>
              <a:t>→  Modèles les plus performants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596128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D0D1A"/>
                </a:solidFill>
                <a:latin typeface="Calibri Light"/>
              </a:rPr>
              <a:t>→  Mise à jour automatique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888736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D0D1A"/>
                </a:solidFill>
                <a:latin typeface="Calibri Light"/>
              </a:rPr>
              <a:t>→  Idéal pour démarrer rapidement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3108960"/>
            <a:ext cx="3703320" cy="3291840"/>
          </a:xfrm>
          <a:prstGeom prst="rect">
            <a:avLst/>
          </a:prstGeom>
          <a:solidFill>
            <a:srgbClr val="EEF0FD"/>
          </a:solidFill>
          <a:ln>
            <a:solidFill>
              <a:srgbClr val="4E5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338328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50">
                <a:solidFill>
                  <a:srgbClr val="4E56EC"/>
                </a:solidFill>
                <a:latin typeface="Calibri Light"/>
              </a:rPr>
              <a:t>FORMAT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70332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D0D1A"/>
                </a:solidFill>
                <a:latin typeface="Calibri"/>
              </a:rPr>
              <a:t>Modèles client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4251960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606080"/>
                </a:solidFill>
                <a:latin typeface="Calibri Light"/>
              </a:rPr>
              <a:t>Intégrez vos contrats LLM existants — Anthropic, Microsoft, Google et autres.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530352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D0D1A"/>
                </a:solidFill>
                <a:latin typeface="Calibri Light"/>
              </a:rPr>
              <a:t>→  Vos contrats LLM valorisés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5596128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D0D1A"/>
                </a:solidFill>
                <a:latin typeface="Calibri Light"/>
              </a:rPr>
              <a:t>→  Contrôle total sur le modèle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5888736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D0D1A"/>
                </a:solidFill>
                <a:latin typeface="Calibri Light"/>
              </a:rPr>
              <a:t>→  Cohérence avec votre stack IA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3108960"/>
            <a:ext cx="370332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338328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50">
                <a:solidFill>
                  <a:srgbClr val="4E56EC"/>
                </a:solidFill>
                <a:latin typeface="Calibri Light"/>
              </a:rPr>
              <a:t>FORMAT 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70332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D0D1A"/>
                </a:solidFill>
                <a:latin typeface="Calibri"/>
              </a:rPr>
              <a:t>Open Source &amp; Souverain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251960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606080"/>
                </a:solidFill>
                <a:latin typeface="Calibri Light"/>
              </a:rPr>
              <a:t>Modèles open source — cloud souverain EU ou on-premise sur votre infrastructure.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530352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D0D1A"/>
                </a:solidFill>
                <a:latin typeface="Calibri Light"/>
              </a:rPr>
              <a:t>→  Zéro dépendance externe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5596128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D0D1A"/>
                </a:solidFill>
                <a:latin typeface="Calibri Light"/>
              </a:rPr>
              <a:t>→  Données dans votre environnement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5888736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D0D1A"/>
                </a:solidFill>
                <a:latin typeface="Calibri Light"/>
              </a:rPr>
              <a:t>→  Cloud souverain ou on-premise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06080"/>
                </a:solidFill>
                <a:latin typeface="Calibri Light"/>
              </a:rPr>
              <a:t>SKAPA · AI Product Platform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06080"/>
                </a:solidFill>
                <a:latin typeface="Calibri Light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spc="300">
                <a:solidFill>
                  <a:srgbClr val="4E56EC"/>
                </a:solidFill>
                <a:latin typeface="Calibri"/>
              </a:rPr>
              <a:t>SKAPA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50">
                <a:solidFill>
                  <a:srgbClr val="606080"/>
                </a:solidFill>
                <a:latin typeface="Calibri Light"/>
              </a:rPr>
              <a:t>AI PRODUCT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50">
                <a:solidFill>
                  <a:srgbClr val="4E56EC"/>
                </a:solidFill>
                <a:latin typeface="Calibri Light"/>
              </a:rPr>
              <a:t>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D0D1A"/>
                </a:solidFill>
                <a:latin typeface="Calibri"/>
              </a:rPr>
              <a:t>Produits construits avec Build 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06080"/>
                </a:solidFill>
                <a:latin typeface="Calibri Light"/>
              </a:rPr>
              <a:t>Des produits métiers réels, déployés en production — full stack, dans les contraintes des organisations.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83280"/>
            <a:ext cx="2743200" cy="1691640"/>
          </a:xfrm>
          <a:prstGeom prst="roundRect">
            <a:avLst>
              <a:gd name="adj" fmla="val 4000"/>
            </a:avLst>
          </a:prstGeom>
          <a:solidFill>
            <a:srgbClr val="13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657600"/>
            <a:ext cx="2194560" cy="137160"/>
          </a:xfrm>
          <a:prstGeom prst="rect">
            <a:avLst/>
          </a:prstGeom>
          <a:solidFill>
            <a:srgbClr val="4E5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931920"/>
            <a:ext cx="548640" cy="868680"/>
          </a:xfrm>
          <a:prstGeom prst="rect">
            <a:avLst/>
          </a:prstGeom>
          <a:solidFill>
            <a:srgbClr val="2A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463040" y="3931920"/>
            <a:ext cx="1554480" cy="228600"/>
          </a:xfrm>
          <a:prstGeom prst="rect">
            <a:avLst/>
          </a:prstGeom>
          <a:solidFill>
            <a:srgbClr val="2A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63040" y="4251960"/>
            <a:ext cx="1554480" cy="228600"/>
          </a:xfrm>
          <a:prstGeom prst="rect">
            <a:avLst/>
          </a:prstGeom>
          <a:solidFill>
            <a:srgbClr val="2A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63040" y="4572000"/>
            <a:ext cx="1554480" cy="228600"/>
          </a:xfrm>
          <a:prstGeom prst="rect">
            <a:avLst/>
          </a:prstGeom>
          <a:solidFill>
            <a:srgbClr val="2A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5074920"/>
            <a:ext cx="274320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2120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D0D1A"/>
                </a:solidFill>
                <a:latin typeface="Calibri"/>
              </a:rPr>
              <a:t>Dashboard analytique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62356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06080"/>
                </a:solidFill>
                <a:latin typeface="Calibri Light"/>
              </a:rPr>
              <a:t>React · Node.js · PostgreSQL · Figma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10712" y="3383280"/>
            <a:ext cx="2743200" cy="1691640"/>
          </a:xfrm>
          <a:prstGeom prst="roundRect">
            <a:avLst>
              <a:gd name="adj" fmla="val 4000"/>
            </a:avLst>
          </a:prstGeom>
          <a:solidFill>
            <a:srgbClr val="13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85032" y="3657600"/>
            <a:ext cx="2194560" cy="137160"/>
          </a:xfrm>
          <a:prstGeom prst="rect">
            <a:avLst/>
          </a:prstGeom>
          <a:solidFill>
            <a:srgbClr val="6C7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85032" y="3931920"/>
            <a:ext cx="548640" cy="868680"/>
          </a:xfrm>
          <a:prstGeom prst="rect">
            <a:avLst/>
          </a:prstGeom>
          <a:solidFill>
            <a:srgbClr val="2A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25112" y="3931920"/>
            <a:ext cx="1554480" cy="228600"/>
          </a:xfrm>
          <a:prstGeom prst="rect">
            <a:avLst/>
          </a:prstGeom>
          <a:solidFill>
            <a:srgbClr val="2A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25112" y="4251960"/>
            <a:ext cx="1554480" cy="228600"/>
          </a:xfrm>
          <a:prstGeom prst="rect">
            <a:avLst/>
          </a:prstGeom>
          <a:solidFill>
            <a:srgbClr val="2A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25112" y="4572000"/>
            <a:ext cx="1554480" cy="228600"/>
          </a:xfrm>
          <a:prstGeom prst="rect">
            <a:avLst/>
          </a:prstGeom>
          <a:solidFill>
            <a:srgbClr val="2A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10712" y="5074920"/>
            <a:ext cx="274320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93592" y="52120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D0D1A"/>
                </a:solidFill>
                <a:latin typeface="Calibri"/>
              </a:rPr>
              <a:t>Portail de gestion interne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93592" y="562356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06080"/>
                </a:solidFill>
                <a:latin typeface="Calibri Light"/>
              </a:rPr>
              <a:t>Angular · Java Spring · Oracle · Jira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2784" y="3383280"/>
            <a:ext cx="2743200" cy="1691640"/>
          </a:xfrm>
          <a:prstGeom prst="roundRect">
            <a:avLst>
              <a:gd name="adj" fmla="val 4000"/>
            </a:avLst>
          </a:prstGeom>
          <a:solidFill>
            <a:srgbClr val="13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47104" y="3657600"/>
            <a:ext cx="2194560" cy="137160"/>
          </a:xfrm>
          <a:prstGeom prst="rect">
            <a:avLst/>
          </a:prstGeom>
          <a:solidFill>
            <a:srgbClr val="A0A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47104" y="3931920"/>
            <a:ext cx="548640" cy="868680"/>
          </a:xfrm>
          <a:prstGeom prst="rect">
            <a:avLst/>
          </a:prstGeom>
          <a:solidFill>
            <a:srgbClr val="2A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187184" y="3931920"/>
            <a:ext cx="1554480" cy="228600"/>
          </a:xfrm>
          <a:prstGeom prst="rect">
            <a:avLst/>
          </a:prstGeom>
          <a:solidFill>
            <a:srgbClr val="2A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87184" y="4251960"/>
            <a:ext cx="1554480" cy="228600"/>
          </a:xfrm>
          <a:prstGeom prst="rect">
            <a:avLst/>
          </a:prstGeom>
          <a:solidFill>
            <a:srgbClr val="2A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87184" y="4572000"/>
            <a:ext cx="1554480" cy="228600"/>
          </a:xfrm>
          <a:prstGeom prst="rect">
            <a:avLst/>
          </a:prstGeom>
          <a:solidFill>
            <a:srgbClr val="2A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72784" y="5074920"/>
            <a:ext cx="274320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52120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D0D1A"/>
                </a:solidFill>
                <a:latin typeface="Calibri"/>
              </a:rPr>
              <a:t>Outil de pricing métier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5664" y="562356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06080"/>
                </a:solidFill>
                <a:latin typeface="Calibri Light"/>
              </a:rPr>
              <a:t>Vue · Python FastAPI · MySQL · Figma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34856" y="3383280"/>
            <a:ext cx="2743200" cy="1691640"/>
          </a:xfrm>
          <a:prstGeom prst="roundRect">
            <a:avLst>
              <a:gd name="adj" fmla="val 4000"/>
            </a:avLst>
          </a:prstGeom>
          <a:solidFill>
            <a:srgbClr val="13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09176" y="3657600"/>
            <a:ext cx="2194560" cy="13716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409176" y="3931920"/>
            <a:ext cx="548640" cy="868680"/>
          </a:xfrm>
          <a:prstGeom prst="rect">
            <a:avLst/>
          </a:prstGeom>
          <a:solidFill>
            <a:srgbClr val="2A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049256" y="3931920"/>
            <a:ext cx="1554480" cy="228600"/>
          </a:xfrm>
          <a:prstGeom prst="rect">
            <a:avLst/>
          </a:prstGeom>
          <a:solidFill>
            <a:srgbClr val="2A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049256" y="4251960"/>
            <a:ext cx="1554480" cy="228600"/>
          </a:xfrm>
          <a:prstGeom prst="rect">
            <a:avLst/>
          </a:prstGeom>
          <a:solidFill>
            <a:srgbClr val="2A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9256" y="4572000"/>
            <a:ext cx="1554480" cy="228600"/>
          </a:xfrm>
          <a:prstGeom prst="rect">
            <a:avLst/>
          </a:prstGeom>
          <a:solidFill>
            <a:srgbClr val="2A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34856" y="5074920"/>
            <a:ext cx="274320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C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17736" y="52120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D0D1A"/>
                </a:solidFill>
                <a:latin typeface="Calibri"/>
              </a:rPr>
              <a:t>Votre prochain produit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17736" y="562356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06080"/>
                </a:solidFill>
                <a:latin typeface="Calibri Light"/>
              </a:rPr>
              <a:t>Rejoignez la Beta 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06080"/>
                </a:solidFill>
                <a:latin typeface="Calibri Light"/>
              </a:rPr>
              <a:t>SKAPA · AI Product Platform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06080"/>
                </a:solidFill>
                <a:latin typeface="Calibri Light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E5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0" y="457200"/>
            <a:ext cx="7315200" cy="6400800"/>
          </a:xfrm>
          <a:prstGeom prst="ellipse">
            <a:avLst/>
          </a:prstGeom>
          <a:solidFill>
            <a:srgbClr val="3C4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300">
                <a:solidFill>
                  <a:srgbClr val="FFFFFF"/>
                </a:solidFill>
                <a:latin typeface="Calibri Light"/>
              </a:rPr>
              <a:t>SKAPA · AI PRODUCT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300">
                <a:solidFill>
                  <a:srgbClr val="EEF0FD"/>
                </a:solidFill>
                <a:latin typeface="Calibri Light"/>
              </a:rPr>
              <a:t>COMMENCER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109728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6000" b="1">
                <a:solidFill>
                  <a:srgbClr val="FFFFFF"/>
                </a:solidFill>
                <a:latin typeface="Calibri"/>
              </a:rPr>
              <a:t>Commencez par </a:t>
            </a:r>
            <a:r>
              <a:rPr sz="6000" b="1">
                <a:solidFill>
                  <a:srgbClr val="EEF0FD"/>
                </a:solidFill>
                <a:latin typeface="Calibri"/>
              </a:rPr>
              <a:t>Build 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206240"/>
            <a:ext cx="8503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800" b="0">
                <a:solidFill>
                  <a:srgbClr val="EEF0FD"/>
                </a:solidFill>
                <a:latin typeface="Calibri Light"/>
              </a:rPr>
              <a:t>Le module phare de l'AI Product Platform.</a:t>
            </a:r>
          </a:p>
          <a:p>
            <a:pPr algn="ctr">
              <a:lnSpc>
                <a:spcPct val="150000"/>
              </a:lnSpc>
            </a:pPr>
            <a:r>
              <a:rPr sz="1800" b="0">
                <a:solidFill>
                  <a:srgbClr val="EEF0FD"/>
                </a:solidFill>
                <a:latin typeface="Calibri Light"/>
              </a:rPr>
              <a:t>Disponible en Beta dès maintenant.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5303520"/>
            <a:ext cx="274320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54406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E56EC"/>
                </a:solidFill>
                <a:latin typeface="Calibri Light"/>
              </a:rPr>
              <a:t>Rejoindre la Beta  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5303520"/>
            <a:ext cx="2743200" cy="502920"/>
          </a:xfrm>
          <a:prstGeom prst="roundRect">
            <a:avLst>
              <a:gd name="adj" fmla="val 50000"/>
            </a:avLst>
          </a:prstGeom>
          <a:solidFill>
            <a:srgbClr val="3C44D4"/>
          </a:solidFill>
          <a:ln>
            <a:solidFill>
              <a:srgbClr val="EEF0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54406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Calibri Light"/>
              </a:rPr>
              <a:t>Démarrer un pilote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EF0FD"/>
                </a:solidFill>
                <a:latin typeface="Calibri Light"/>
              </a:rPr>
              <a:t>SKAPA · contact@skapa.io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64465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EEF0FD"/>
                </a:solidFill>
                <a:latin typeface="Calibri Light"/>
              </a:rPr>
              <a:t>© 2025 SKAPA · AI Product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